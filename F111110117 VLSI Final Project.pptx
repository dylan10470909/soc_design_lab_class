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34" roundtripDataSignature="AMtx7mhcoYjHPXZCI4wGompwL2J1PlSA5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customschemas.google.com/relationships/presentationmetadata" Target="meta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zh-TW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br>
              <a:rPr lang="zh-TW"/>
            </a:br>
            <a:endParaRPr/>
          </a:p>
        </p:txBody>
      </p:sp>
      <p:sp>
        <p:nvSpPr>
          <p:cNvPr id="87" name="Google Shape;87;p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" name="Google Shape;19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" name="Google Shape;20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" name="Google Shape;21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5" name="Google Shape;24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7" name="Google Shape;257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9" name="Google Shape;269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2" name="Google Shape;282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5" name="Google Shape;295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8" name="Google Shape;308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1" name="Google Shape;321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>
              <a:solidFill>
                <a:srgbClr val="D1D5D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2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3" name="Google Shape;333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2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5" name="Google Shape;345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2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7" name="Google Shape;357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低電位(0) 處於reset狀態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2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9" name="Google Shape;369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2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1" name="Google Shape;381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2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4" name="Google Shape;394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2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6" name="Google Shape;406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2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2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5" name="Google Shape;415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2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投影片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0"/>
          <p:cNvSpPr txBox="1"/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0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0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0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0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物件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1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1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1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1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1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2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2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32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區段標題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3"/>
          <p:cNvSpPr txBox="1"/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33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33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3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33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兩項物件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4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4"/>
          <p:cNvSpPr txBox="1"/>
          <p:nvPr>
            <p:ph idx="1" type="body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34"/>
          <p:cNvSpPr txBox="1"/>
          <p:nvPr>
            <p:ph idx="2" type="body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34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4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34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對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5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35"/>
          <p:cNvSpPr txBox="1"/>
          <p:nvPr>
            <p:ph idx="1" type="body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35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35"/>
          <p:cNvSpPr txBox="1"/>
          <p:nvPr>
            <p:ph idx="3" type="body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35"/>
          <p:cNvSpPr txBox="1"/>
          <p:nvPr>
            <p:ph idx="4" type="body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35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5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5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只有標題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6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36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6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6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標題的內容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7"/>
          <p:cNvSpPr txBox="1"/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7"/>
          <p:cNvSpPr txBox="1"/>
          <p:nvPr>
            <p:ph idx="1" type="body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37"/>
          <p:cNvSpPr txBox="1"/>
          <p:nvPr>
            <p:ph idx="2" type="body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37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7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7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標題的圖片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8"/>
          <p:cNvSpPr txBox="1"/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8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8"/>
          <p:cNvSpPr txBox="1"/>
          <p:nvPr>
            <p:ph idx="1" type="body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38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8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8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直排文字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9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9"/>
          <p:cNvSpPr txBox="1"/>
          <p:nvPr>
            <p:ph idx="1" type="body"/>
          </p:nvPr>
        </p:nvSpPr>
        <p:spPr>
          <a:xfrm rot="5400000">
            <a:off x="3833019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39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9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9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直排標題及文字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0"/>
          <p:cNvSpPr txBox="1"/>
          <p:nvPr>
            <p:ph type="title"/>
          </p:nvPr>
        </p:nvSpPr>
        <p:spPr>
          <a:xfrm rot="5400000">
            <a:off x="7285038" y="1828802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40"/>
          <p:cNvSpPr txBox="1"/>
          <p:nvPr>
            <p:ph idx="1" type="body"/>
          </p:nvPr>
        </p:nvSpPr>
        <p:spPr>
          <a:xfrm rot="5400000">
            <a:off x="1697038" y="-812799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40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40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40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9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9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9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9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9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0.png"/><Relationship Id="rId4" Type="http://schemas.openxmlformats.org/officeDocument/2006/relationships/image" Target="../media/image1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hyperlink" Target="https://fes.tsri.org.tw/trs/onlineapply/initWsvPage.action" TargetMode="External"/><Relationship Id="rId4" Type="http://schemas.openxmlformats.org/officeDocument/2006/relationships/hyperlink" Target="https://zhuanlan.zhihu.com/p/514616748" TargetMode="Externa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/>
          <p:nvPr>
            <p:ph type="ctrTitle"/>
          </p:nvPr>
        </p:nvSpPr>
        <p:spPr>
          <a:xfrm>
            <a:off x="227347" y="2053979"/>
            <a:ext cx="11737304" cy="15910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zh-TW">
                <a:latin typeface="Calibri"/>
                <a:ea typeface="Calibri"/>
                <a:cs typeface="Calibri"/>
                <a:sym typeface="Calibri"/>
              </a:rPr>
              <a:t>VLSI Lab Final Project</a:t>
            </a:r>
            <a:br>
              <a:rPr b="1" lang="zh-TW" sz="4200">
                <a:latin typeface="Calibri"/>
                <a:ea typeface="Calibri"/>
                <a:cs typeface="Calibri"/>
                <a:sym typeface="Calibri"/>
              </a:rPr>
            </a:br>
            <a:r>
              <a:rPr b="1" lang="zh-TW">
                <a:latin typeface="Calibri"/>
                <a:ea typeface="Calibri"/>
                <a:cs typeface="Calibri"/>
                <a:sym typeface="Calibri"/>
              </a:rPr>
              <a:t>Ping - Pong Buffer 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3503712" y="4416666"/>
            <a:ext cx="4817278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TW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報告人 : 劉泰鄅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TW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學號 : F111110117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TW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授課老師: 謝瑞鴻 教授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1" name="Google Shape;91;p1"/>
          <p:cNvCxnSpPr/>
          <p:nvPr/>
        </p:nvCxnSpPr>
        <p:spPr>
          <a:xfrm>
            <a:off x="1847528" y="3645024"/>
            <a:ext cx="8809463" cy="0"/>
          </a:xfrm>
          <a:prstGeom prst="straightConnector1">
            <a:avLst/>
          </a:prstGeom>
          <a:noFill/>
          <a:ln cap="flat" cmpd="sng" w="28575">
            <a:solidFill>
              <a:srgbClr val="FABF8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2" name="Google Shape;92;p1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Microsoft JhengHei"/>
              <a:buNone/>
            </a:pPr>
            <a:r>
              <a:rPr b="1" lang="zh-TW" sz="3800">
                <a:latin typeface="Microsoft JhengHei"/>
                <a:ea typeface="Microsoft JhengHei"/>
                <a:cs typeface="Microsoft JhengHei"/>
                <a:sym typeface="Microsoft JhengHei"/>
              </a:rPr>
              <a:t>介紹</a:t>
            </a:r>
            <a:endParaRPr/>
          </a:p>
        </p:txBody>
      </p:sp>
      <p:cxnSp>
        <p:nvCxnSpPr>
          <p:cNvPr id="99" name="Google Shape;99;p2"/>
          <p:cNvCxnSpPr/>
          <p:nvPr/>
        </p:nvCxnSpPr>
        <p:spPr>
          <a:xfrm>
            <a:off x="609600" y="1268760"/>
            <a:ext cx="8809463" cy="0"/>
          </a:xfrm>
          <a:prstGeom prst="straightConnector1">
            <a:avLst/>
          </a:prstGeom>
          <a:noFill/>
          <a:ln cap="flat" cmpd="sng" w="28575">
            <a:solidFill>
              <a:srgbClr val="FABF8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0" name="Google Shape;100;p2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01" name="Google Shape;101;p2"/>
          <p:cNvSpPr/>
          <p:nvPr/>
        </p:nvSpPr>
        <p:spPr>
          <a:xfrm flipH="1">
            <a:off x="609600" y="1939412"/>
            <a:ext cx="45719" cy="261942"/>
          </a:xfrm>
          <a:prstGeom prst="roundRect">
            <a:avLst>
              <a:gd fmla="val 16667" name="adj"/>
            </a:avLst>
          </a:prstGeom>
          <a:solidFill>
            <a:srgbClr val="538CD5"/>
          </a:solidFill>
          <a:ln cap="flat" cmpd="sng" w="25400">
            <a:solidFill>
              <a:srgbClr val="538C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2"/>
          <p:cNvSpPr txBox="1"/>
          <p:nvPr/>
        </p:nvSpPr>
        <p:spPr>
          <a:xfrm>
            <a:off x="659501" y="1642833"/>
            <a:ext cx="11573858" cy="2159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TW" sz="22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什麼是Ping-Pong Buffer ?</a:t>
            </a:r>
            <a:endParaRPr/>
          </a:p>
          <a:p>
            <a:pPr indent="-285750" lvl="1" marL="742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icrosoft JhengHei"/>
              <a:buChar char="–"/>
            </a:pPr>
            <a:r>
              <a:rPr b="1" i="0" lang="zh-TW" sz="20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Ping-Pong Buffer 是一種數據緩存的一種方式，透過它可提高數據傳輸上的效率。</a:t>
            </a:r>
            <a:endParaRPr b="1" i="0" sz="20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285750" lvl="1" marL="742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icrosoft JhengHei"/>
              <a:buChar char="–"/>
            </a:pPr>
            <a:r>
              <a:rPr b="1" i="0" lang="zh-TW" sz="20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在多媒體應用上中較為廣泛使用例如視訊編碼、音訊處理、遊戲開發等。</a:t>
            </a:r>
            <a:br>
              <a:rPr b="1" i="0" lang="zh-TW" sz="20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endParaRPr b="1" i="0" sz="20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03" name="Google Shape;103;p2"/>
          <p:cNvSpPr/>
          <p:nvPr/>
        </p:nvSpPr>
        <p:spPr>
          <a:xfrm flipH="1">
            <a:off x="632459" y="4041173"/>
            <a:ext cx="45719" cy="261942"/>
          </a:xfrm>
          <a:prstGeom prst="roundRect">
            <a:avLst>
              <a:gd fmla="val 16667" name="adj"/>
            </a:avLst>
          </a:prstGeom>
          <a:solidFill>
            <a:srgbClr val="538CD5"/>
          </a:solidFill>
          <a:ln cap="flat" cmpd="sng" w="25400">
            <a:solidFill>
              <a:srgbClr val="538C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2"/>
          <p:cNvSpPr txBox="1"/>
          <p:nvPr/>
        </p:nvSpPr>
        <p:spPr>
          <a:xfrm>
            <a:off x="692254" y="3707743"/>
            <a:ext cx="11118665" cy="16977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TW" sz="22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哪種情況需要Ping-Pong Buffer ?</a:t>
            </a:r>
            <a:endParaRPr/>
          </a:p>
          <a:p>
            <a:pPr indent="-285750" lvl="1" marL="742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icrosoft JhengHei"/>
              <a:buChar char="–"/>
            </a:pPr>
            <a:r>
              <a:rPr b="1" i="0" lang="zh-TW" sz="20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舉例兩個模塊間交換數據時，上一級處理的結果不能馬上被下一級所處理完成，</a:t>
            </a:r>
            <a:br>
              <a:rPr b="1" i="0" lang="zh-TW" sz="20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b="1" i="0" lang="zh-TW" sz="20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還需等待下一級處理完才可以傳送新的數據，對性能上會造成損失。</a:t>
            </a:r>
            <a:endParaRPr b="1" i="0" sz="20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Microsoft JhengHei"/>
              <a:buNone/>
            </a:pPr>
            <a:r>
              <a:rPr b="1" lang="zh-TW" sz="3800">
                <a:latin typeface="Microsoft JhengHei"/>
                <a:ea typeface="Microsoft JhengHei"/>
                <a:cs typeface="Microsoft JhengHei"/>
                <a:sym typeface="Microsoft JhengHei"/>
              </a:rPr>
              <a:t>介紹</a:t>
            </a:r>
            <a:endParaRPr/>
          </a:p>
        </p:txBody>
      </p:sp>
      <p:cxnSp>
        <p:nvCxnSpPr>
          <p:cNvPr id="111" name="Google Shape;111;p3"/>
          <p:cNvCxnSpPr/>
          <p:nvPr/>
        </p:nvCxnSpPr>
        <p:spPr>
          <a:xfrm>
            <a:off x="609600" y="1268760"/>
            <a:ext cx="8809463" cy="0"/>
          </a:xfrm>
          <a:prstGeom prst="straightConnector1">
            <a:avLst/>
          </a:prstGeom>
          <a:noFill/>
          <a:ln cap="flat" cmpd="sng" w="28575">
            <a:solidFill>
              <a:srgbClr val="FABF8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2" name="Google Shape;112;p3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13" name="Google Shape;113;p3"/>
          <p:cNvSpPr/>
          <p:nvPr/>
        </p:nvSpPr>
        <p:spPr>
          <a:xfrm flipH="1">
            <a:off x="609600" y="1939412"/>
            <a:ext cx="45719" cy="261942"/>
          </a:xfrm>
          <a:prstGeom prst="roundRect">
            <a:avLst>
              <a:gd fmla="val 16667" name="adj"/>
            </a:avLst>
          </a:prstGeom>
          <a:solidFill>
            <a:srgbClr val="538CD5"/>
          </a:solidFill>
          <a:ln cap="flat" cmpd="sng" w="25400">
            <a:solidFill>
              <a:srgbClr val="538C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3"/>
          <p:cNvSpPr txBox="1"/>
          <p:nvPr/>
        </p:nvSpPr>
        <p:spPr>
          <a:xfrm>
            <a:off x="659501" y="1642833"/>
            <a:ext cx="11573858" cy="2159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TW" sz="22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什麼是Ping-Pong Buffer ?</a:t>
            </a:r>
            <a:endParaRPr/>
          </a:p>
          <a:p>
            <a:pPr indent="-285750" lvl="1" marL="742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icrosoft JhengHei"/>
              <a:buChar char="–"/>
            </a:pPr>
            <a:r>
              <a:rPr b="1" i="0" lang="zh-TW" sz="20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Ping-Pong Buffer 是一種數據緩存的一種方式，透過它可提高數據傳輸上的效率。</a:t>
            </a:r>
            <a:endParaRPr b="1" i="0" sz="20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285750" lvl="1" marL="742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icrosoft JhengHei"/>
              <a:buChar char="–"/>
            </a:pPr>
            <a:r>
              <a:rPr b="1" i="0" lang="zh-TW" sz="20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在多媒體應用上中較為廣泛使用例如</a:t>
            </a:r>
            <a:r>
              <a:rPr b="1" i="0" lang="zh-TW" sz="2000" u="none" cap="none" strike="noStrike">
                <a:solidFill>
                  <a:srgbClr val="E36C0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視訊編碼</a:t>
            </a:r>
            <a:r>
              <a:rPr b="1" i="0" lang="zh-TW" sz="20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、音訊處理、遊戲開發等。</a:t>
            </a:r>
            <a:br>
              <a:rPr b="1" i="0" lang="zh-TW" sz="20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endParaRPr b="1" i="0" sz="20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15" name="Google Shape;115;p3"/>
          <p:cNvSpPr/>
          <p:nvPr/>
        </p:nvSpPr>
        <p:spPr>
          <a:xfrm flipH="1">
            <a:off x="632459" y="4041173"/>
            <a:ext cx="45719" cy="261942"/>
          </a:xfrm>
          <a:prstGeom prst="roundRect">
            <a:avLst>
              <a:gd fmla="val 16667" name="adj"/>
            </a:avLst>
          </a:prstGeom>
          <a:solidFill>
            <a:srgbClr val="538CD5"/>
          </a:solidFill>
          <a:ln cap="flat" cmpd="sng" w="25400">
            <a:solidFill>
              <a:srgbClr val="538C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3"/>
          <p:cNvSpPr txBox="1"/>
          <p:nvPr/>
        </p:nvSpPr>
        <p:spPr>
          <a:xfrm>
            <a:off x="692254" y="3707743"/>
            <a:ext cx="11118665" cy="16977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TW" sz="22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哪種情況需要Ping-Pong Buffer ?</a:t>
            </a:r>
            <a:endParaRPr/>
          </a:p>
          <a:p>
            <a:pPr indent="-285750" lvl="1" marL="742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icrosoft JhengHei"/>
              <a:buChar char="–"/>
            </a:pPr>
            <a:r>
              <a:rPr b="1" i="0" lang="zh-TW" sz="20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舉例兩個模塊間交換數據時，上一級處理的結果不能馬上被下一級所處理完成，</a:t>
            </a:r>
            <a:br>
              <a:rPr b="1" i="0" lang="zh-TW" sz="20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b="1" i="0" lang="zh-TW" sz="20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還需等待下一級處理完才可以傳送新的數據，對性能上會造成損失。</a:t>
            </a:r>
            <a:endParaRPr b="1" i="0" sz="20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Microsoft JhengHei"/>
              <a:buNone/>
            </a:pPr>
            <a:r>
              <a:rPr b="1" lang="zh-TW" sz="3800">
                <a:latin typeface="Microsoft JhengHei"/>
                <a:ea typeface="Microsoft JhengHei"/>
                <a:cs typeface="Microsoft JhengHei"/>
                <a:sym typeface="Microsoft JhengHei"/>
              </a:rPr>
              <a:t>介紹</a:t>
            </a:r>
            <a:endParaRPr/>
          </a:p>
        </p:txBody>
      </p:sp>
      <p:cxnSp>
        <p:nvCxnSpPr>
          <p:cNvPr id="123" name="Google Shape;123;p4"/>
          <p:cNvCxnSpPr/>
          <p:nvPr/>
        </p:nvCxnSpPr>
        <p:spPr>
          <a:xfrm>
            <a:off x="609600" y="1268760"/>
            <a:ext cx="8809463" cy="0"/>
          </a:xfrm>
          <a:prstGeom prst="straightConnector1">
            <a:avLst/>
          </a:prstGeom>
          <a:noFill/>
          <a:ln cap="flat" cmpd="sng" w="28575">
            <a:solidFill>
              <a:srgbClr val="FABF8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4" name="Google Shape;124;p4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25" name="Google Shape;125;p4"/>
          <p:cNvSpPr/>
          <p:nvPr/>
        </p:nvSpPr>
        <p:spPr>
          <a:xfrm flipH="1">
            <a:off x="609600" y="1939412"/>
            <a:ext cx="45719" cy="261942"/>
          </a:xfrm>
          <a:prstGeom prst="roundRect">
            <a:avLst>
              <a:gd fmla="val 16667" name="adj"/>
            </a:avLst>
          </a:prstGeom>
          <a:solidFill>
            <a:srgbClr val="538CD5"/>
          </a:solidFill>
          <a:ln cap="flat" cmpd="sng" w="25400">
            <a:solidFill>
              <a:srgbClr val="538C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4"/>
          <p:cNvSpPr txBox="1"/>
          <p:nvPr/>
        </p:nvSpPr>
        <p:spPr>
          <a:xfrm>
            <a:off x="659501" y="1642833"/>
            <a:ext cx="11573858" cy="2159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TW" sz="22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什麼是Ping-Pong Buffer ?</a:t>
            </a:r>
            <a:endParaRPr/>
          </a:p>
          <a:p>
            <a:pPr indent="-285750" lvl="1" marL="742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icrosoft JhengHei"/>
              <a:buChar char="–"/>
            </a:pPr>
            <a:r>
              <a:rPr b="1" i="0" lang="zh-TW" sz="20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Ping-Pong Buffer 是一種數據緩存的一種方式，透過它可提高數據傳輸上的效率。</a:t>
            </a:r>
            <a:endParaRPr b="1" i="0" sz="20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285750" lvl="1" marL="742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icrosoft JhengHei"/>
              <a:buChar char="–"/>
            </a:pPr>
            <a:r>
              <a:rPr b="1" i="0" lang="zh-TW" sz="20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在多媒體應用上中較為廣泛使用例如視訊編碼、</a:t>
            </a:r>
            <a:r>
              <a:rPr b="1" i="0" lang="zh-TW" sz="2000" u="none" cap="none" strike="noStrike">
                <a:solidFill>
                  <a:srgbClr val="E36C0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音訊處理</a:t>
            </a:r>
            <a:r>
              <a:rPr b="1" i="0" lang="zh-TW" sz="20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、遊戲開發等。</a:t>
            </a:r>
            <a:br>
              <a:rPr b="1" i="0" lang="zh-TW" sz="20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endParaRPr b="1" i="0" sz="20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27" name="Google Shape;127;p4"/>
          <p:cNvSpPr/>
          <p:nvPr/>
        </p:nvSpPr>
        <p:spPr>
          <a:xfrm flipH="1">
            <a:off x="632459" y="4041173"/>
            <a:ext cx="45719" cy="261942"/>
          </a:xfrm>
          <a:prstGeom prst="roundRect">
            <a:avLst>
              <a:gd fmla="val 16667" name="adj"/>
            </a:avLst>
          </a:prstGeom>
          <a:solidFill>
            <a:srgbClr val="538CD5"/>
          </a:solidFill>
          <a:ln cap="flat" cmpd="sng" w="25400">
            <a:solidFill>
              <a:srgbClr val="538C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 txBox="1"/>
          <p:nvPr/>
        </p:nvSpPr>
        <p:spPr>
          <a:xfrm>
            <a:off x="692254" y="3707743"/>
            <a:ext cx="11118665" cy="16977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TW" sz="22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哪種情況需要Ping-Pong Buffer ?</a:t>
            </a:r>
            <a:endParaRPr/>
          </a:p>
          <a:p>
            <a:pPr indent="-285750" lvl="1" marL="742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icrosoft JhengHei"/>
              <a:buChar char="–"/>
            </a:pPr>
            <a:r>
              <a:rPr b="1" i="0" lang="zh-TW" sz="20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舉例兩個模塊間交換數據時，上一級處理的結果不能馬上被下一級所處理完成，</a:t>
            </a:r>
            <a:br>
              <a:rPr b="1" i="0" lang="zh-TW" sz="20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b="1" i="0" lang="zh-TW" sz="20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還需等待下一級處理完才可以傳送新的數據，對性能上會造成損失。</a:t>
            </a:r>
            <a:endParaRPr b="1" i="0" sz="20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Microsoft JhengHei"/>
              <a:buNone/>
            </a:pPr>
            <a:r>
              <a:rPr b="1" lang="zh-TW" sz="3800">
                <a:latin typeface="Microsoft JhengHei"/>
                <a:ea typeface="Microsoft JhengHei"/>
                <a:cs typeface="Microsoft JhengHei"/>
                <a:sym typeface="Microsoft JhengHei"/>
              </a:rPr>
              <a:t>介紹</a:t>
            </a:r>
            <a:endParaRPr/>
          </a:p>
        </p:txBody>
      </p:sp>
      <p:cxnSp>
        <p:nvCxnSpPr>
          <p:cNvPr id="135" name="Google Shape;135;p5"/>
          <p:cNvCxnSpPr/>
          <p:nvPr/>
        </p:nvCxnSpPr>
        <p:spPr>
          <a:xfrm>
            <a:off x="609600" y="1268760"/>
            <a:ext cx="8809463" cy="0"/>
          </a:xfrm>
          <a:prstGeom prst="straightConnector1">
            <a:avLst/>
          </a:prstGeom>
          <a:noFill/>
          <a:ln cap="flat" cmpd="sng" w="28575">
            <a:solidFill>
              <a:srgbClr val="FABF8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6" name="Google Shape;136;p5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37" name="Google Shape;137;p5"/>
          <p:cNvSpPr/>
          <p:nvPr/>
        </p:nvSpPr>
        <p:spPr>
          <a:xfrm flipH="1">
            <a:off x="609600" y="1939412"/>
            <a:ext cx="45719" cy="261942"/>
          </a:xfrm>
          <a:prstGeom prst="roundRect">
            <a:avLst>
              <a:gd fmla="val 16667" name="adj"/>
            </a:avLst>
          </a:prstGeom>
          <a:solidFill>
            <a:srgbClr val="538CD5"/>
          </a:solidFill>
          <a:ln cap="flat" cmpd="sng" w="25400">
            <a:solidFill>
              <a:srgbClr val="538C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"/>
          <p:cNvSpPr txBox="1"/>
          <p:nvPr/>
        </p:nvSpPr>
        <p:spPr>
          <a:xfrm>
            <a:off x="659501" y="1642833"/>
            <a:ext cx="11573858" cy="2159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TW" sz="22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什麼是Ping-Pong Buffer ?</a:t>
            </a:r>
            <a:endParaRPr/>
          </a:p>
          <a:p>
            <a:pPr indent="-285750" lvl="1" marL="742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icrosoft JhengHei"/>
              <a:buChar char="–"/>
            </a:pPr>
            <a:r>
              <a:rPr b="1" i="0" lang="zh-TW" sz="20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Ping-Pong Buffer 是一種數據緩存的一種方式，透過它可提高數據傳輸上的效率。</a:t>
            </a:r>
            <a:endParaRPr b="1" i="0" sz="20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285750" lvl="1" marL="742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icrosoft JhengHei"/>
              <a:buChar char="–"/>
            </a:pPr>
            <a:r>
              <a:rPr b="1" i="0" lang="zh-TW" sz="20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在多媒體應用上中較為廣泛使用例如視訊編碼、音訊處理、</a:t>
            </a:r>
            <a:r>
              <a:rPr b="1" i="0" lang="zh-TW" sz="2000" u="none" cap="none" strike="noStrike">
                <a:solidFill>
                  <a:srgbClr val="E36C0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遊戲開發</a:t>
            </a:r>
            <a:r>
              <a:rPr b="1" i="0" lang="zh-TW" sz="20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等。</a:t>
            </a:r>
            <a:br>
              <a:rPr b="1" i="0" lang="zh-TW" sz="20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endParaRPr b="1" i="0" sz="20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39" name="Google Shape;139;p5"/>
          <p:cNvSpPr/>
          <p:nvPr/>
        </p:nvSpPr>
        <p:spPr>
          <a:xfrm flipH="1">
            <a:off x="632459" y="4041173"/>
            <a:ext cx="45719" cy="261942"/>
          </a:xfrm>
          <a:prstGeom prst="roundRect">
            <a:avLst>
              <a:gd fmla="val 16667" name="adj"/>
            </a:avLst>
          </a:prstGeom>
          <a:solidFill>
            <a:srgbClr val="538CD5"/>
          </a:solidFill>
          <a:ln cap="flat" cmpd="sng" w="25400">
            <a:solidFill>
              <a:srgbClr val="538C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5"/>
          <p:cNvSpPr txBox="1"/>
          <p:nvPr/>
        </p:nvSpPr>
        <p:spPr>
          <a:xfrm>
            <a:off x="692254" y="3707743"/>
            <a:ext cx="11118665" cy="16977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TW" sz="22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哪種情況需要Ping-Pong Buffer ?</a:t>
            </a:r>
            <a:endParaRPr/>
          </a:p>
          <a:p>
            <a:pPr indent="-285750" lvl="1" marL="742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icrosoft JhengHei"/>
              <a:buChar char="–"/>
            </a:pPr>
            <a:r>
              <a:rPr b="1" i="0" lang="zh-TW" sz="20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舉例兩個模塊間交換數據時，上一級處理的結果不能馬上被下一級所處理完成，</a:t>
            </a:r>
            <a:br>
              <a:rPr b="1" i="0" lang="zh-TW" sz="20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b="1" i="0" lang="zh-TW" sz="20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還需等待下一級處理完才可以傳送新的數據，對性能上會造成損失。</a:t>
            </a:r>
            <a:endParaRPr b="1" i="0" sz="20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6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Microsoft JhengHei"/>
              <a:buNone/>
            </a:pPr>
            <a:r>
              <a:rPr b="1" lang="zh-TW" sz="3800">
                <a:latin typeface="Microsoft JhengHei"/>
                <a:ea typeface="Microsoft JhengHei"/>
                <a:cs typeface="Microsoft JhengHei"/>
                <a:sym typeface="Microsoft JhengHei"/>
              </a:rPr>
              <a:t>介紹</a:t>
            </a:r>
            <a:endParaRPr/>
          </a:p>
        </p:txBody>
      </p:sp>
      <p:cxnSp>
        <p:nvCxnSpPr>
          <p:cNvPr id="147" name="Google Shape;147;p6"/>
          <p:cNvCxnSpPr/>
          <p:nvPr/>
        </p:nvCxnSpPr>
        <p:spPr>
          <a:xfrm>
            <a:off x="609600" y="1268760"/>
            <a:ext cx="8809463" cy="0"/>
          </a:xfrm>
          <a:prstGeom prst="straightConnector1">
            <a:avLst/>
          </a:prstGeom>
          <a:noFill/>
          <a:ln cap="flat" cmpd="sng" w="28575">
            <a:solidFill>
              <a:srgbClr val="FABF8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8" name="Google Shape;148;p6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49" name="Google Shape;149;p6"/>
          <p:cNvSpPr/>
          <p:nvPr/>
        </p:nvSpPr>
        <p:spPr>
          <a:xfrm flipH="1">
            <a:off x="609600" y="1957318"/>
            <a:ext cx="45719" cy="261942"/>
          </a:xfrm>
          <a:prstGeom prst="roundRect">
            <a:avLst>
              <a:gd fmla="val 16667" name="adj"/>
            </a:avLst>
          </a:prstGeom>
          <a:solidFill>
            <a:srgbClr val="538CD5"/>
          </a:solidFill>
          <a:ln cap="flat" cmpd="sng" w="25400">
            <a:solidFill>
              <a:srgbClr val="538C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6"/>
          <p:cNvSpPr txBox="1"/>
          <p:nvPr/>
        </p:nvSpPr>
        <p:spPr>
          <a:xfrm>
            <a:off x="659501" y="1642833"/>
            <a:ext cx="11573858" cy="2159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TW" sz="22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什麼是Ping-Pong Buffer ?</a:t>
            </a:r>
            <a:endParaRPr/>
          </a:p>
          <a:p>
            <a:pPr indent="-285750" lvl="1" marL="742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icrosoft JhengHei"/>
              <a:buChar char="–"/>
            </a:pPr>
            <a:r>
              <a:rPr b="1" i="0" lang="zh-TW" sz="20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Ping-Pong Buffer 是一種數據緩存的一種方式，透過它可提高數據傳輸上的效率。</a:t>
            </a:r>
            <a:endParaRPr b="1" i="0" sz="20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285750" lvl="1" marL="742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icrosoft JhengHei"/>
              <a:buChar char="–"/>
            </a:pPr>
            <a:r>
              <a:rPr b="1" i="0" lang="zh-TW" sz="20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在多媒體應用上中較為廣泛使用例如視訊編碼、音訊處理、遊戲開發等。</a:t>
            </a:r>
            <a:br>
              <a:rPr b="1" i="0" lang="zh-TW" sz="20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endParaRPr b="1" i="0" sz="20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51" name="Google Shape;151;p6"/>
          <p:cNvSpPr/>
          <p:nvPr/>
        </p:nvSpPr>
        <p:spPr>
          <a:xfrm flipH="1">
            <a:off x="632459" y="4041173"/>
            <a:ext cx="45719" cy="261942"/>
          </a:xfrm>
          <a:prstGeom prst="roundRect">
            <a:avLst>
              <a:gd fmla="val 16667" name="adj"/>
            </a:avLst>
          </a:prstGeom>
          <a:solidFill>
            <a:srgbClr val="538CD5"/>
          </a:solidFill>
          <a:ln cap="flat" cmpd="sng" w="25400">
            <a:solidFill>
              <a:srgbClr val="538C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6"/>
          <p:cNvSpPr txBox="1"/>
          <p:nvPr/>
        </p:nvSpPr>
        <p:spPr>
          <a:xfrm>
            <a:off x="692254" y="3707743"/>
            <a:ext cx="11118665" cy="16977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TW" sz="22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哪種情況需要Ping-Pong Buffer ?</a:t>
            </a:r>
            <a:endParaRPr/>
          </a:p>
          <a:p>
            <a:pPr indent="-285750" lvl="1" marL="742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icrosoft JhengHei"/>
              <a:buChar char="–"/>
            </a:pPr>
            <a:r>
              <a:rPr b="1" i="0" lang="zh-TW" sz="20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舉例兩個模塊間交換數據時，上一級處理的結果不能馬上被下一級所處理完成，</a:t>
            </a:r>
            <a:br>
              <a:rPr b="1" i="0" lang="zh-TW" sz="20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b="1" i="0" lang="zh-TW" sz="20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還需等待下一級處理完才可以傳送新的數據，對性能上會造成損失。</a:t>
            </a:r>
            <a:endParaRPr b="1" i="0" sz="20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7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Microsoft JhengHei"/>
              <a:buNone/>
            </a:pPr>
            <a:r>
              <a:rPr b="1" lang="zh-TW" sz="3800">
                <a:latin typeface="Microsoft JhengHei"/>
                <a:ea typeface="Microsoft JhengHei"/>
                <a:cs typeface="Microsoft JhengHei"/>
                <a:sym typeface="Microsoft JhengHei"/>
              </a:rPr>
              <a:t>介紹</a:t>
            </a:r>
            <a:endParaRPr/>
          </a:p>
        </p:txBody>
      </p:sp>
      <p:cxnSp>
        <p:nvCxnSpPr>
          <p:cNvPr id="159" name="Google Shape;159;p7"/>
          <p:cNvCxnSpPr/>
          <p:nvPr/>
        </p:nvCxnSpPr>
        <p:spPr>
          <a:xfrm>
            <a:off x="609600" y="1268760"/>
            <a:ext cx="8809463" cy="0"/>
          </a:xfrm>
          <a:prstGeom prst="straightConnector1">
            <a:avLst/>
          </a:prstGeom>
          <a:noFill/>
          <a:ln cap="flat" cmpd="sng" w="28575">
            <a:solidFill>
              <a:srgbClr val="FABF8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0" name="Google Shape;160;p7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61" name="Google Shape;161;p7"/>
          <p:cNvSpPr/>
          <p:nvPr/>
        </p:nvSpPr>
        <p:spPr>
          <a:xfrm flipH="1">
            <a:off x="982333" y="2057472"/>
            <a:ext cx="45719" cy="261942"/>
          </a:xfrm>
          <a:prstGeom prst="roundRect">
            <a:avLst>
              <a:gd fmla="val 16667" name="adj"/>
            </a:avLst>
          </a:prstGeom>
          <a:solidFill>
            <a:srgbClr val="538CD5"/>
          </a:solidFill>
          <a:ln cap="flat" cmpd="sng" w="25400">
            <a:solidFill>
              <a:srgbClr val="538C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7"/>
          <p:cNvSpPr txBox="1"/>
          <p:nvPr/>
        </p:nvSpPr>
        <p:spPr>
          <a:xfrm>
            <a:off x="1029151" y="1700808"/>
            <a:ext cx="11573858" cy="28462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TW" sz="24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Ping-Pong Buffer 工作原理:</a:t>
            </a:r>
            <a:endParaRPr/>
          </a:p>
          <a:p>
            <a:pPr indent="-285750" lvl="1" marL="742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icrosoft JhengHei"/>
              <a:buChar char="–"/>
            </a:pPr>
            <a:r>
              <a:rPr b="1" i="0" lang="zh-TW" sz="22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在硬體設計中主要用來做數據緩存，可提高數據傳輸上的效率。</a:t>
            </a:r>
            <a:endParaRPr b="1" i="0" sz="22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285750" lvl="1" marL="742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icrosoft JhengHei"/>
              <a:buChar char="–"/>
            </a:pPr>
            <a:r>
              <a:rPr b="1" i="0" lang="zh-TW" sz="22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數據在不同處理單元之間的高效傳輸，從而減少延遲，提高</a:t>
            </a:r>
            <a:r>
              <a:rPr b="1" i="0" lang="zh-TW" sz="16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(Real-time)</a:t>
            </a:r>
            <a:r>
              <a:rPr b="1" i="0" lang="zh-TW" sz="22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及時性。</a:t>
            </a:r>
            <a:endParaRPr b="1" i="0" sz="22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285750" lvl="1" marL="742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icrosoft JhengHei"/>
              <a:buChar char="–"/>
            </a:pPr>
            <a:r>
              <a:rPr b="1" i="0" lang="zh-TW" sz="22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緩衝區使用互相獨立，不受其模塊影響，由此提高系統的整體性能。</a:t>
            </a:r>
            <a:endParaRPr b="1" i="0" sz="22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285750" lvl="1" marL="742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icrosoft JhengHei"/>
              <a:buChar char="–"/>
            </a:pPr>
            <a:r>
              <a:rPr b="1" i="0" lang="zh-TW" sz="22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緩衝區是由至少兩個緩存單元所組成，單元之間進行交替讀寫。</a:t>
            </a:r>
            <a:endParaRPr b="1" i="0" sz="22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8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Microsoft JhengHei"/>
              <a:buNone/>
            </a:pPr>
            <a:r>
              <a:rPr b="1" lang="zh-TW" sz="3800">
                <a:latin typeface="Microsoft JhengHei"/>
                <a:ea typeface="Microsoft JhengHei"/>
                <a:cs typeface="Microsoft JhengHei"/>
                <a:sym typeface="Microsoft JhengHei"/>
              </a:rPr>
              <a:t>介紹</a:t>
            </a:r>
            <a:endParaRPr/>
          </a:p>
        </p:txBody>
      </p:sp>
      <p:cxnSp>
        <p:nvCxnSpPr>
          <p:cNvPr id="169" name="Google Shape;169;p8"/>
          <p:cNvCxnSpPr/>
          <p:nvPr/>
        </p:nvCxnSpPr>
        <p:spPr>
          <a:xfrm>
            <a:off x="609600" y="1268760"/>
            <a:ext cx="8809463" cy="0"/>
          </a:xfrm>
          <a:prstGeom prst="straightConnector1">
            <a:avLst/>
          </a:prstGeom>
          <a:noFill/>
          <a:ln cap="flat" cmpd="sng" w="28575">
            <a:solidFill>
              <a:srgbClr val="FABF8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0" name="Google Shape;170;p8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71" name="Google Shape;171;p8"/>
          <p:cNvSpPr/>
          <p:nvPr/>
        </p:nvSpPr>
        <p:spPr>
          <a:xfrm flipH="1">
            <a:off x="982333" y="2057472"/>
            <a:ext cx="45719" cy="261942"/>
          </a:xfrm>
          <a:prstGeom prst="roundRect">
            <a:avLst>
              <a:gd fmla="val 16667" name="adj"/>
            </a:avLst>
          </a:prstGeom>
          <a:solidFill>
            <a:srgbClr val="538CD5"/>
          </a:solidFill>
          <a:ln cap="flat" cmpd="sng" w="25400">
            <a:solidFill>
              <a:srgbClr val="538C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8"/>
          <p:cNvSpPr txBox="1"/>
          <p:nvPr/>
        </p:nvSpPr>
        <p:spPr>
          <a:xfrm>
            <a:off x="1029151" y="1700808"/>
            <a:ext cx="11573858" cy="28462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TW" sz="24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Ping-Pong Buffer 工作原理:</a:t>
            </a:r>
            <a:endParaRPr/>
          </a:p>
          <a:p>
            <a:pPr indent="-285750" lvl="1" marL="742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icrosoft JhengHei"/>
              <a:buChar char="–"/>
            </a:pPr>
            <a:r>
              <a:rPr b="1" i="0" lang="zh-TW" sz="22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在硬體設計中主要用來做</a:t>
            </a:r>
            <a:r>
              <a:rPr b="1" i="0" lang="zh-TW" sz="2200" u="none" cap="none" strike="noStrike">
                <a:solidFill>
                  <a:srgbClr val="E36C0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數據緩存</a:t>
            </a:r>
            <a:r>
              <a:rPr b="1" i="0" lang="zh-TW" sz="22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，可提高數據傳輸上的效率。</a:t>
            </a:r>
            <a:endParaRPr b="1" i="0" sz="22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285750" lvl="1" marL="742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icrosoft JhengHei"/>
              <a:buChar char="–"/>
            </a:pPr>
            <a:r>
              <a:rPr b="1" i="0" lang="zh-TW" sz="22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數據在不同處理單元之間的高效傳輸，從而減少延遲，提高</a:t>
            </a:r>
            <a:r>
              <a:rPr b="1" i="0" lang="zh-TW" sz="16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(Real-time)</a:t>
            </a:r>
            <a:r>
              <a:rPr b="1" i="0" lang="zh-TW" sz="22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及時性。</a:t>
            </a:r>
            <a:endParaRPr b="1" i="0" sz="22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285750" lvl="1" marL="742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icrosoft JhengHei"/>
              <a:buChar char="–"/>
            </a:pPr>
            <a:r>
              <a:rPr b="1" i="0" lang="zh-TW" sz="22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緩衝區使用互相獨立，不受其模塊影響，由此提高系統的整體性能。</a:t>
            </a:r>
            <a:endParaRPr b="1" i="0" sz="22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285750" lvl="1" marL="742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icrosoft JhengHei"/>
              <a:buChar char="–"/>
            </a:pPr>
            <a:r>
              <a:rPr b="1" i="0" lang="zh-TW" sz="22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緩衝區是由至少兩個緩存單元所組成，單元之間進行交替讀寫。</a:t>
            </a:r>
            <a:endParaRPr b="1" i="0" sz="22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9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Microsoft JhengHei"/>
              <a:buNone/>
            </a:pPr>
            <a:r>
              <a:rPr b="1" lang="zh-TW" sz="3800">
                <a:latin typeface="Microsoft JhengHei"/>
                <a:ea typeface="Microsoft JhengHei"/>
                <a:cs typeface="Microsoft JhengHei"/>
                <a:sym typeface="Microsoft JhengHei"/>
              </a:rPr>
              <a:t>介紹</a:t>
            </a:r>
            <a:endParaRPr/>
          </a:p>
        </p:txBody>
      </p:sp>
      <p:cxnSp>
        <p:nvCxnSpPr>
          <p:cNvPr id="179" name="Google Shape;179;p9"/>
          <p:cNvCxnSpPr/>
          <p:nvPr/>
        </p:nvCxnSpPr>
        <p:spPr>
          <a:xfrm>
            <a:off x="609600" y="1268760"/>
            <a:ext cx="8809463" cy="0"/>
          </a:xfrm>
          <a:prstGeom prst="straightConnector1">
            <a:avLst/>
          </a:prstGeom>
          <a:noFill/>
          <a:ln cap="flat" cmpd="sng" w="28575">
            <a:solidFill>
              <a:srgbClr val="FABF8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0" name="Google Shape;180;p9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81" name="Google Shape;181;p9"/>
          <p:cNvSpPr/>
          <p:nvPr/>
        </p:nvSpPr>
        <p:spPr>
          <a:xfrm flipH="1">
            <a:off x="982333" y="2057472"/>
            <a:ext cx="45719" cy="261942"/>
          </a:xfrm>
          <a:prstGeom prst="roundRect">
            <a:avLst>
              <a:gd fmla="val 16667" name="adj"/>
            </a:avLst>
          </a:prstGeom>
          <a:solidFill>
            <a:srgbClr val="538CD5"/>
          </a:solidFill>
          <a:ln cap="flat" cmpd="sng" w="25400">
            <a:solidFill>
              <a:srgbClr val="538C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9"/>
          <p:cNvSpPr txBox="1"/>
          <p:nvPr/>
        </p:nvSpPr>
        <p:spPr>
          <a:xfrm>
            <a:off x="1029151" y="1700808"/>
            <a:ext cx="11573858" cy="28462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TW" sz="24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Ping-Pong Buffer 工作原理:</a:t>
            </a:r>
            <a:endParaRPr/>
          </a:p>
          <a:p>
            <a:pPr indent="-285750" lvl="1" marL="742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icrosoft JhengHei"/>
              <a:buChar char="–"/>
            </a:pPr>
            <a:r>
              <a:rPr b="1" i="0" lang="zh-TW" sz="22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在硬體設計中主要用來做數據緩存，可提高數據傳輸上的效率。</a:t>
            </a:r>
            <a:endParaRPr b="1" i="0" sz="22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285750" lvl="1" marL="742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icrosoft JhengHei"/>
              <a:buChar char="–"/>
            </a:pPr>
            <a:r>
              <a:rPr b="1" i="0" lang="zh-TW" sz="22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數據在不同處理單元之間的高效傳輸，從而減少延遲，提高</a:t>
            </a:r>
            <a:r>
              <a:rPr b="1" i="0" lang="zh-TW" sz="1600" u="none" cap="none" strike="noStrike">
                <a:solidFill>
                  <a:srgbClr val="E36C0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(Real-time)</a:t>
            </a:r>
            <a:r>
              <a:rPr b="1" i="0" lang="zh-TW" sz="22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及時性。</a:t>
            </a:r>
            <a:endParaRPr b="1" i="0" sz="22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285750" lvl="1" marL="742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icrosoft JhengHei"/>
              <a:buChar char="–"/>
            </a:pPr>
            <a:r>
              <a:rPr b="1" i="0" lang="zh-TW" sz="22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緩衝區使用互相獨立，不受其模塊影響，由此提高系統的整體性能。</a:t>
            </a:r>
            <a:endParaRPr b="1" i="0" sz="22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285750" lvl="1" marL="742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icrosoft JhengHei"/>
              <a:buChar char="–"/>
            </a:pPr>
            <a:r>
              <a:rPr b="1" i="0" lang="zh-TW" sz="22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緩衝區是由至少兩個緩存單元所組成，單元之間進行交替讀寫。</a:t>
            </a:r>
            <a:endParaRPr b="1" i="0" sz="22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0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Microsoft JhengHei"/>
              <a:buNone/>
            </a:pPr>
            <a:r>
              <a:rPr b="1" lang="zh-TW" sz="3800">
                <a:latin typeface="Microsoft JhengHei"/>
                <a:ea typeface="Microsoft JhengHei"/>
                <a:cs typeface="Microsoft JhengHei"/>
                <a:sym typeface="Microsoft JhengHei"/>
              </a:rPr>
              <a:t>介紹</a:t>
            </a:r>
            <a:endParaRPr/>
          </a:p>
        </p:txBody>
      </p:sp>
      <p:cxnSp>
        <p:nvCxnSpPr>
          <p:cNvPr id="189" name="Google Shape;189;p10"/>
          <p:cNvCxnSpPr/>
          <p:nvPr/>
        </p:nvCxnSpPr>
        <p:spPr>
          <a:xfrm>
            <a:off x="609600" y="1268760"/>
            <a:ext cx="8809463" cy="0"/>
          </a:xfrm>
          <a:prstGeom prst="straightConnector1">
            <a:avLst/>
          </a:prstGeom>
          <a:noFill/>
          <a:ln cap="flat" cmpd="sng" w="28575">
            <a:solidFill>
              <a:srgbClr val="FABF8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0" name="Google Shape;190;p10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91" name="Google Shape;191;p10"/>
          <p:cNvSpPr/>
          <p:nvPr/>
        </p:nvSpPr>
        <p:spPr>
          <a:xfrm flipH="1">
            <a:off x="982333" y="2057472"/>
            <a:ext cx="45719" cy="261942"/>
          </a:xfrm>
          <a:prstGeom prst="roundRect">
            <a:avLst>
              <a:gd fmla="val 16667" name="adj"/>
            </a:avLst>
          </a:prstGeom>
          <a:solidFill>
            <a:srgbClr val="538CD5"/>
          </a:solidFill>
          <a:ln cap="flat" cmpd="sng" w="25400">
            <a:solidFill>
              <a:srgbClr val="538C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0"/>
          <p:cNvSpPr txBox="1"/>
          <p:nvPr/>
        </p:nvSpPr>
        <p:spPr>
          <a:xfrm>
            <a:off x="1029151" y="1700808"/>
            <a:ext cx="11573858" cy="28462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TW" sz="24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Ping-Pong Buffer 工作原理:</a:t>
            </a:r>
            <a:endParaRPr/>
          </a:p>
          <a:p>
            <a:pPr indent="-285750" lvl="1" marL="742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icrosoft JhengHei"/>
              <a:buChar char="–"/>
            </a:pPr>
            <a:r>
              <a:rPr b="1" i="0" lang="zh-TW" sz="22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在硬體設計中主要用來做數據緩存，可提高數據傳輸上的效率。</a:t>
            </a:r>
            <a:endParaRPr b="1" i="0" sz="22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285750" lvl="1" marL="742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icrosoft JhengHei"/>
              <a:buChar char="–"/>
            </a:pPr>
            <a:r>
              <a:rPr b="1" i="0" lang="zh-TW" sz="22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數據在不同處理單元之間的高效傳輸，從而減少延遲，提高</a:t>
            </a:r>
            <a:r>
              <a:rPr b="1" i="0" lang="zh-TW" sz="16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(Real-time)</a:t>
            </a:r>
            <a:r>
              <a:rPr b="1" i="0" lang="zh-TW" sz="22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及時性。</a:t>
            </a:r>
            <a:endParaRPr b="1" i="0" sz="22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285750" lvl="1" marL="742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icrosoft JhengHei"/>
              <a:buChar char="–"/>
            </a:pPr>
            <a:r>
              <a:rPr b="1" i="0" lang="zh-TW" sz="22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緩衝區使用</a:t>
            </a:r>
            <a:r>
              <a:rPr b="1" i="0" lang="zh-TW" sz="2200" u="none" cap="none" strike="noStrike">
                <a:solidFill>
                  <a:srgbClr val="E36C0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互相獨立</a:t>
            </a:r>
            <a:r>
              <a:rPr b="1" i="0" lang="zh-TW" sz="22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，不受其模塊影響，由此提高系統的整體性能。</a:t>
            </a:r>
            <a:endParaRPr b="1" i="0" sz="22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285750" lvl="1" marL="742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icrosoft JhengHei"/>
              <a:buChar char="–"/>
            </a:pPr>
            <a:r>
              <a:rPr b="1" i="0" lang="zh-TW" sz="22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緩衝區是由至少兩個緩存單元所組成，單元之間進行交替讀寫。</a:t>
            </a:r>
            <a:endParaRPr b="1" i="0" sz="22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1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Microsoft JhengHei"/>
              <a:buNone/>
            </a:pPr>
            <a:r>
              <a:rPr b="1" lang="zh-TW" sz="3800">
                <a:latin typeface="Microsoft JhengHei"/>
                <a:ea typeface="Microsoft JhengHei"/>
                <a:cs typeface="Microsoft JhengHei"/>
                <a:sym typeface="Microsoft JhengHei"/>
              </a:rPr>
              <a:t>介紹</a:t>
            </a:r>
            <a:endParaRPr/>
          </a:p>
        </p:txBody>
      </p:sp>
      <p:cxnSp>
        <p:nvCxnSpPr>
          <p:cNvPr id="199" name="Google Shape;199;p11"/>
          <p:cNvCxnSpPr/>
          <p:nvPr/>
        </p:nvCxnSpPr>
        <p:spPr>
          <a:xfrm>
            <a:off x="609600" y="1268760"/>
            <a:ext cx="8809463" cy="0"/>
          </a:xfrm>
          <a:prstGeom prst="straightConnector1">
            <a:avLst/>
          </a:prstGeom>
          <a:noFill/>
          <a:ln cap="flat" cmpd="sng" w="28575">
            <a:solidFill>
              <a:srgbClr val="FABF8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0" name="Google Shape;200;p11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01" name="Google Shape;201;p11"/>
          <p:cNvSpPr/>
          <p:nvPr/>
        </p:nvSpPr>
        <p:spPr>
          <a:xfrm flipH="1">
            <a:off x="982333" y="2057472"/>
            <a:ext cx="45719" cy="261942"/>
          </a:xfrm>
          <a:prstGeom prst="roundRect">
            <a:avLst>
              <a:gd fmla="val 16667" name="adj"/>
            </a:avLst>
          </a:prstGeom>
          <a:solidFill>
            <a:srgbClr val="538CD5"/>
          </a:solidFill>
          <a:ln cap="flat" cmpd="sng" w="25400">
            <a:solidFill>
              <a:srgbClr val="538C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1"/>
          <p:cNvSpPr txBox="1"/>
          <p:nvPr/>
        </p:nvSpPr>
        <p:spPr>
          <a:xfrm>
            <a:off x="1029151" y="1700808"/>
            <a:ext cx="11573858" cy="28462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TW" sz="24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Ping-Pong Buffer 工作原理:</a:t>
            </a:r>
            <a:endParaRPr/>
          </a:p>
          <a:p>
            <a:pPr indent="-285750" lvl="1" marL="742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icrosoft JhengHei"/>
              <a:buChar char="–"/>
            </a:pPr>
            <a:r>
              <a:rPr b="1" i="0" lang="zh-TW" sz="22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在硬體設計中主要用來做數據緩存，可提高數據傳輸上的效率。</a:t>
            </a:r>
            <a:endParaRPr b="1" i="0" sz="22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285750" lvl="1" marL="742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icrosoft JhengHei"/>
              <a:buChar char="–"/>
            </a:pPr>
            <a:r>
              <a:rPr b="1" i="0" lang="zh-TW" sz="22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數據在不同處理單元之間的高效傳輸，從而減少延遲，提高</a:t>
            </a:r>
            <a:r>
              <a:rPr b="1" i="0" lang="zh-TW" sz="16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(Real-time)</a:t>
            </a:r>
            <a:r>
              <a:rPr b="1" i="0" lang="zh-TW" sz="22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及時性。</a:t>
            </a:r>
            <a:endParaRPr b="1" i="0" sz="22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285750" lvl="1" marL="742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icrosoft JhengHei"/>
              <a:buChar char="–"/>
            </a:pPr>
            <a:r>
              <a:rPr b="1" i="0" lang="zh-TW" sz="22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緩衝區使用互相獨立，不受其模塊影響，由此提高系統的整體性能。</a:t>
            </a:r>
            <a:endParaRPr b="1" i="0" sz="22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285750" lvl="1" marL="742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icrosoft JhengHei"/>
              <a:buChar char="–"/>
            </a:pPr>
            <a:r>
              <a:rPr b="1" i="0" lang="zh-TW" sz="22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緩衝區是由至少兩個緩存單元所組成，單元之間進行</a:t>
            </a:r>
            <a:r>
              <a:rPr b="1" i="0" lang="zh-TW" sz="2200" u="none" cap="none" strike="noStrike">
                <a:solidFill>
                  <a:srgbClr val="E36C0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交替讀寫</a:t>
            </a:r>
            <a:r>
              <a:rPr b="1" i="0" lang="zh-TW" sz="22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。</a:t>
            </a:r>
            <a:endParaRPr b="1" i="0" sz="22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2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Microsoft JhengHei"/>
              <a:buNone/>
            </a:pPr>
            <a:r>
              <a:rPr b="1" lang="zh-TW" sz="3800">
                <a:latin typeface="Microsoft JhengHei"/>
                <a:ea typeface="Microsoft JhengHei"/>
                <a:cs typeface="Microsoft JhengHei"/>
                <a:sym typeface="Microsoft JhengHei"/>
              </a:rPr>
              <a:t>架構</a:t>
            </a:r>
            <a:endParaRPr/>
          </a:p>
        </p:txBody>
      </p:sp>
      <p:cxnSp>
        <p:nvCxnSpPr>
          <p:cNvPr id="209" name="Google Shape;209;p12"/>
          <p:cNvCxnSpPr/>
          <p:nvPr/>
        </p:nvCxnSpPr>
        <p:spPr>
          <a:xfrm>
            <a:off x="609600" y="1268760"/>
            <a:ext cx="8809463" cy="0"/>
          </a:xfrm>
          <a:prstGeom prst="straightConnector1">
            <a:avLst/>
          </a:prstGeom>
          <a:noFill/>
          <a:ln cap="flat" cmpd="sng" w="28575">
            <a:solidFill>
              <a:srgbClr val="FABF8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0" name="Google Shape;210;p12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11" name="Google Shape;211;p12"/>
          <p:cNvSpPr/>
          <p:nvPr/>
        </p:nvSpPr>
        <p:spPr>
          <a:xfrm flipH="1">
            <a:off x="982333" y="2057472"/>
            <a:ext cx="45719" cy="261942"/>
          </a:xfrm>
          <a:prstGeom prst="roundRect">
            <a:avLst>
              <a:gd fmla="val 16667" name="adj"/>
            </a:avLst>
          </a:prstGeom>
          <a:solidFill>
            <a:srgbClr val="538CD5"/>
          </a:solidFill>
          <a:ln cap="flat" cmpd="sng" w="25400">
            <a:solidFill>
              <a:srgbClr val="538C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2"/>
          <p:cNvSpPr txBox="1"/>
          <p:nvPr/>
        </p:nvSpPr>
        <p:spPr>
          <a:xfrm>
            <a:off x="1029151" y="1700808"/>
            <a:ext cx="11573858" cy="28001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TW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設計架構:</a:t>
            </a:r>
            <a:endParaRPr b="1" i="0" sz="24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285750" lvl="1" marL="742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icrosoft JhengHei"/>
              <a:buChar char="–"/>
            </a:pPr>
            <a:r>
              <a:rPr b="1" i="0" lang="zh-TW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使用兩個內存單元實現Ping-Pong Buffer緩衝區並存取輸入圖像</a:t>
            </a:r>
            <a:endParaRPr b="1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icrosoft JhengHei"/>
              <a:buChar char="–"/>
            </a:pPr>
            <a:r>
              <a:rPr b="1" i="0" lang="zh-TW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輸入信號以 8 位元表示矩陣中每個像素的值 (預設: 0~255)。</a:t>
            </a:r>
            <a:endParaRPr b="1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icrosoft JhengHei"/>
              <a:buChar char="–"/>
            </a:pPr>
            <a:r>
              <a:rPr b="1" i="0" lang="zh-TW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輸入及輸出必須按照光柵掃描順序進行傳輸。</a:t>
            </a:r>
            <a:endParaRPr b="1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46050" lvl="1" marL="742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icrosoft JhengHei"/>
              <a:buNone/>
            </a:pPr>
            <a:r>
              <a:t/>
            </a:r>
            <a:endParaRPr b="1" i="0" sz="22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3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Microsoft JhengHei"/>
              <a:buNone/>
            </a:pPr>
            <a:r>
              <a:rPr b="1" lang="zh-TW" sz="3800">
                <a:latin typeface="Microsoft JhengHei"/>
                <a:ea typeface="Microsoft JhengHei"/>
                <a:cs typeface="Microsoft JhengHei"/>
                <a:sym typeface="Microsoft JhengHei"/>
              </a:rPr>
              <a:t>架構</a:t>
            </a:r>
            <a:endParaRPr/>
          </a:p>
        </p:txBody>
      </p:sp>
      <p:cxnSp>
        <p:nvCxnSpPr>
          <p:cNvPr id="219" name="Google Shape;219;p13"/>
          <p:cNvCxnSpPr/>
          <p:nvPr/>
        </p:nvCxnSpPr>
        <p:spPr>
          <a:xfrm>
            <a:off x="609600" y="1268760"/>
            <a:ext cx="8809463" cy="0"/>
          </a:xfrm>
          <a:prstGeom prst="straightConnector1">
            <a:avLst/>
          </a:prstGeom>
          <a:noFill/>
          <a:ln cap="flat" cmpd="sng" w="28575">
            <a:solidFill>
              <a:srgbClr val="FABF8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0" name="Google Shape;220;p13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21" name="Google Shape;221;p13"/>
          <p:cNvSpPr/>
          <p:nvPr/>
        </p:nvSpPr>
        <p:spPr>
          <a:xfrm flipH="1">
            <a:off x="616002" y="1538734"/>
            <a:ext cx="45719" cy="261942"/>
          </a:xfrm>
          <a:prstGeom prst="roundRect">
            <a:avLst>
              <a:gd fmla="val 16667" name="adj"/>
            </a:avLst>
          </a:prstGeom>
          <a:solidFill>
            <a:srgbClr val="538CD5"/>
          </a:solidFill>
          <a:ln cap="flat" cmpd="sng" w="25400">
            <a:solidFill>
              <a:srgbClr val="538C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3"/>
          <p:cNvSpPr txBox="1"/>
          <p:nvPr/>
        </p:nvSpPr>
        <p:spPr>
          <a:xfrm>
            <a:off x="638861" y="1179432"/>
            <a:ext cx="11573858" cy="7168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TW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架構設計圖:</a:t>
            </a:r>
            <a:endParaRPr/>
          </a:p>
        </p:txBody>
      </p:sp>
      <p:sp>
        <p:nvSpPr>
          <p:cNvPr id="223" name="Google Shape;223;p13"/>
          <p:cNvSpPr/>
          <p:nvPr/>
        </p:nvSpPr>
        <p:spPr>
          <a:xfrm>
            <a:off x="3721729" y="2310278"/>
            <a:ext cx="769562" cy="3012934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3"/>
          <p:cNvSpPr/>
          <p:nvPr/>
        </p:nvSpPr>
        <p:spPr>
          <a:xfrm>
            <a:off x="5397082" y="2744241"/>
            <a:ext cx="1512168" cy="561105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3"/>
          <p:cNvSpPr/>
          <p:nvPr/>
        </p:nvSpPr>
        <p:spPr>
          <a:xfrm>
            <a:off x="5397082" y="4123448"/>
            <a:ext cx="1512168" cy="561105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TW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Memory B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3"/>
          <p:cNvSpPr/>
          <p:nvPr/>
        </p:nvSpPr>
        <p:spPr>
          <a:xfrm>
            <a:off x="7749423" y="2328685"/>
            <a:ext cx="769562" cy="3012934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3"/>
          <p:cNvSpPr/>
          <p:nvPr/>
        </p:nvSpPr>
        <p:spPr>
          <a:xfrm>
            <a:off x="8518986" y="3221723"/>
            <a:ext cx="482486" cy="1238673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25400">
            <a:solidFill>
              <a:srgbClr val="2136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3"/>
          <p:cNvSpPr/>
          <p:nvPr/>
        </p:nvSpPr>
        <p:spPr>
          <a:xfrm>
            <a:off x="3092826" y="1921773"/>
            <a:ext cx="6003657" cy="3905496"/>
          </a:xfrm>
          <a:prstGeom prst="rect">
            <a:avLst/>
          </a:prstGeom>
          <a:noFill/>
          <a:ln cap="flat" cmpd="sng" w="38100">
            <a:solidFill>
              <a:srgbClr val="E36C0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向右箭頭 以實心填滿" id="229" name="Google Shape;22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69587" y="3359545"/>
            <a:ext cx="897354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向右箭頭 以實心填滿" id="230" name="Google Shape;23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25059" y="2347941"/>
            <a:ext cx="897354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向右箭頭 以實心填滿" id="231" name="Google Shape;23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10852" y="3130945"/>
            <a:ext cx="897354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向右箭頭 以實心填滿" id="232" name="Google Shape;23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20908" y="3985835"/>
            <a:ext cx="897354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13"/>
          <p:cNvSpPr/>
          <p:nvPr/>
        </p:nvSpPr>
        <p:spPr>
          <a:xfrm>
            <a:off x="3251886" y="3225857"/>
            <a:ext cx="455050" cy="1238673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25400">
            <a:solidFill>
              <a:srgbClr val="2136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3"/>
          <p:cNvSpPr/>
          <p:nvPr/>
        </p:nvSpPr>
        <p:spPr>
          <a:xfrm>
            <a:off x="4303688" y="2803149"/>
            <a:ext cx="1093394" cy="443290"/>
          </a:xfrm>
          <a:prstGeom prst="rightArrow">
            <a:avLst>
              <a:gd fmla="val 43007" name="adj1"/>
              <a:gd fmla="val 50000" name="adj2"/>
            </a:avLst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3"/>
          <p:cNvSpPr/>
          <p:nvPr/>
        </p:nvSpPr>
        <p:spPr>
          <a:xfrm>
            <a:off x="4299533" y="4161774"/>
            <a:ext cx="1093394" cy="443290"/>
          </a:xfrm>
          <a:prstGeom prst="rightArrow">
            <a:avLst>
              <a:gd fmla="val 43007" name="adj1"/>
              <a:gd fmla="val 50000" name="adj2"/>
            </a:avLst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3"/>
          <p:cNvSpPr/>
          <p:nvPr/>
        </p:nvSpPr>
        <p:spPr>
          <a:xfrm>
            <a:off x="6909250" y="2813439"/>
            <a:ext cx="905791" cy="443290"/>
          </a:xfrm>
          <a:prstGeom prst="rightArrow">
            <a:avLst>
              <a:gd fmla="val 43007" name="adj1"/>
              <a:gd fmla="val 50000" name="adj2"/>
            </a:avLst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3"/>
          <p:cNvSpPr/>
          <p:nvPr/>
        </p:nvSpPr>
        <p:spPr>
          <a:xfrm>
            <a:off x="6909250" y="4157649"/>
            <a:ext cx="905791" cy="443290"/>
          </a:xfrm>
          <a:prstGeom prst="rightArrow">
            <a:avLst>
              <a:gd fmla="val 43007" name="adj1"/>
              <a:gd fmla="val 50000" name="adj2"/>
            </a:avLst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3"/>
          <p:cNvSpPr txBox="1"/>
          <p:nvPr/>
        </p:nvSpPr>
        <p:spPr>
          <a:xfrm>
            <a:off x="5458509" y="2835002"/>
            <a:ext cx="138931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Memory A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3"/>
          <p:cNvSpPr txBox="1"/>
          <p:nvPr/>
        </p:nvSpPr>
        <p:spPr>
          <a:xfrm>
            <a:off x="1851936" y="2385662"/>
            <a:ext cx="63866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clk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3"/>
          <p:cNvSpPr txBox="1"/>
          <p:nvPr/>
        </p:nvSpPr>
        <p:spPr>
          <a:xfrm>
            <a:off x="1620667" y="3170113"/>
            <a:ext cx="89735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rst_n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3"/>
          <p:cNvSpPr txBox="1"/>
          <p:nvPr/>
        </p:nvSpPr>
        <p:spPr>
          <a:xfrm>
            <a:off x="1472573" y="4034668"/>
            <a:ext cx="89735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[7:0]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3"/>
          <p:cNvSpPr txBox="1"/>
          <p:nvPr/>
        </p:nvSpPr>
        <p:spPr>
          <a:xfrm>
            <a:off x="9925252" y="3388058"/>
            <a:ext cx="140371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 [7:0]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4"/>
          <p:cNvSpPr txBox="1"/>
          <p:nvPr>
            <p:ph type="title"/>
          </p:nvPr>
        </p:nvSpPr>
        <p:spPr>
          <a:xfrm>
            <a:off x="609600" y="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Microsoft JhengHei"/>
              <a:buNone/>
            </a:pPr>
            <a:r>
              <a:rPr b="1" lang="zh-TW" sz="3800">
                <a:latin typeface="Microsoft JhengHei"/>
                <a:ea typeface="Microsoft JhengHei"/>
                <a:cs typeface="Microsoft JhengHei"/>
                <a:sym typeface="Microsoft JhengHei"/>
              </a:rPr>
              <a:t>Demo	</a:t>
            </a:r>
            <a:endParaRPr b="1" sz="3800"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cxnSp>
        <p:nvCxnSpPr>
          <p:cNvPr id="249" name="Google Shape;249;p14"/>
          <p:cNvCxnSpPr/>
          <p:nvPr/>
        </p:nvCxnSpPr>
        <p:spPr>
          <a:xfrm>
            <a:off x="609600" y="908720"/>
            <a:ext cx="8809463" cy="0"/>
          </a:xfrm>
          <a:prstGeom prst="straightConnector1">
            <a:avLst/>
          </a:prstGeom>
          <a:noFill/>
          <a:ln cap="flat" cmpd="sng" w="28575">
            <a:solidFill>
              <a:srgbClr val="FABF8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0" name="Google Shape;250;p14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grpSp>
        <p:nvGrpSpPr>
          <p:cNvPr id="251" name="Google Shape;251;p14"/>
          <p:cNvGrpSpPr/>
          <p:nvPr/>
        </p:nvGrpSpPr>
        <p:grpSpPr>
          <a:xfrm>
            <a:off x="622146" y="977927"/>
            <a:ext cx="5962920" cy="430887"/>
            <a:chOff x="622146" y="1417638"/>
            <a:chExt cx="5962920" cy="430887"/>
          </a:xfrm>
        </p:grpSpPr>
        <p:sp>
          <p:nvSpPr>
            <p:cNvPr id="252" name="Google Shape;252;p14"/>
            <p:cNvSpPr/>
            <p:nvPr/>
          </p:nvSpPr>
          <p:spPr>
            <a:xfrm flipH="1">
              <a:off x="622146" y="1502110"/>
              <a:ext cx="45719" cy="261942"/>
            </a:xfrm>
            <a:prstGeom prst="roundRect">
              <a:avLst>
                <a:gd fmla="val 16667" name="adj"/>
              </a:avLst>
            </a:prstGeom>
            <a:solidFill>
              <a:srgbClr val="538CD5"/>
            </a:solidFill>
            <a:ln cap="flat" cmpd="sng" w="25400">
              <a:solidFill>
                <a:srgbClr val="538CD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3" name="Google Shape;253;p14"/>
            <p:cNvSpPr txBox="1"/>
            <p:nvPr/>
          </p:nvSpPr>
          <p:spPr>
            <a:xfrm>
              <a:off x="680410" y="1417638"/>
              <a:ext cx="5904656" cy="4308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TW" sz="2200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主程式 RTL Code</a:t>
              </a:r>
              <a:endParaRPr b="1" sz="2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</p:grpSp>
      <p:pic>
        <p:nvPicPr>
          <p:cNvPr descr="一張含有 文字, 螢幕擷取畫面, 字型 的圖片&#10;&#10;自動產生的描述" id="254" name="Google Shape;25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7408" y="1414992"/>
            <a:ext cx="3600400" cy="53400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5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Microsoft JhengHei"/>
              <a:buNone/>
            </a:pPr>
            <a:r>
              <a:rPr b="1" lang="zh-TW" sz="3800">
                <a:latin typeface="Microsoft JhengHei"/>
                <a:ea typeface="Microsoft JhengHei"/>
                <a:cs typeface="Microsoft JhengHei"/>
                <a:sym typeface="Microsoft JhengHei"/>
              </a:rPr>
              <a:t>Demo	</a:t>
            </a:r>
            <a:endParaRPr b="1" sz="3800"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cxnSp>
        <p:nvCxnSpPr>
          <p:cNvPr id="261" name="Google Shape;261;p15"/>
          <p:cNvCxnSpPr/>
          <p:nvPr/>
        </p:nvCxnSpPr>
        <p:spPr>
          <a:xfrm>
            <a:off x="609600" y="1268760"/>
            <a:ext cx="8809463" cy="0"/>
          </a:xfrm>
          <a:prstGeom prst="straightConnector1">
            <a:avLst/>
          </a:prstGeom>
          <a:noFill/>
          <a:ln cap="flat" cmpd="sng" w="28575">
            <a:solidFill>
              <a:srgbClr val="FABF8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2" name="Google Shape;262;p15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grpSp>
        <p:nvGrpSpPr>
          <p:cNvPr id="263" name="Google Shape;263;p15"/>
          <p:cNvGrpSpPr/>
          <p:nvPr/>
        </p:nvGrpSpPr>
        <p:grpSpPr>
          <a:xfrm>
            <a:off x="622146" y="1417638"/>
            <a:ext cx="5962920" cy="430887"/>
            <a:chOff x="622146" y="1417638"/>
            <a:chExt cx="5962920" cy="430887"/>
          </a:xfrm>
        </p:grpSpPr>
        <p:sp>
          <p:nvSpPr>
            <p:cNvPr id="264" name="Google Shape;264;p15"/>
            <p:cNvSpPr/>
            <p:nvPr/>
          </p:nvSpPr>
          <p:spPr>
            <a:xfrm flipH="1">
              <a:off x="622146" y="1502110"/>
              <a:ext cx="45719" cy="261942"/>
            </a:xfrm>
            <a:prstGeom prst="roundRect">
              <a:avLst>
                <a:gd fmla="val 16667" name="adj"/>
              </a:avLst>
            </a:prstGeom>
            <a:solidFill>
              <a:srgbClr val="538CD5"/>
            </a:solidFill>
            <a:ln cap="flat" cmpd="sng" w="25400">
              <a:solidFill>
                <a:srgbClr val="538CD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5" name="Google Shape;265;p15"/>
            <p:cNvSpPr txBox="1"/>
            <p:nvPr/>
          </p:nvSpPr>
          <p:spPr>
            <a:xfrm>
              <a:off x="680410" y="1417638"/>
              <a:ext cx="5904656" cy="4308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TW" sz="2200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主程式 RTL Code </a:t>
              </a:r>
              <a:r>
                <a:rPr b="1" lang="zh-TW" sz="1800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(1/6)</a:t>
              </a:r>
              <a:endParaRPr b="1" sz="18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</p:grpSp>
      <p:pic>
        <p:nvPicPr>
          <p:cNvPr descr="一張含有 文字, 字型, 白色 的圖片&#10;&#10;自動產生的描述" id="266" name="Google Shape;266;p15"/>
          <p:cNvPicPr preferRelativeResize="0"/>
          <p:nvPr/>
        </p:nvPicPr>
        <p:blipFill rotWithShape="1">
          <a:blip r:embed="rId3">
            <a:alphaModFix/>
          </a:blip>
          <a:srcRect b="0" l="1923" r="0" t="0"/>
          <a:stretch/>
        </p:blipFill>
        <p:spPr>
          <a:xfrm>
            <a:off x="767409" y="1997402"/>
            <a:ext cx="3240360" cy="15418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6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Microsoft JhengHei"/>
              <a:buNone/>
            </a:pPr>
            <a:r>
              <a:rPr b="1" lang="zh-TW" sz="3800">
                <a:latin typeface="Microsoft JhengHei"/>
                <a:ea typeface="Microsoft JhengHei"/>
                <a:cs typeface="Microsoft JhengHei"/>
                <a:sym typeface="Microsoft JhengHei"/>
              </a:rPr>
              <a:t>Demo	</a:t>
            </a:r>
            <a:endParaRPr b="1" sz="3800"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cxnSp>
        <p:nvCxnSpPr>
          <p:cNvPr id="273" name="Google Shape;273;p16"/>
          <p:cNvCxnSpPr/>
          <p:nvPr/>
        </p:nvCxnSpPr>
        <p:spPr>
          <a:xfrm>
            <a:off x="609600" y="1268760"/>
            <a:ext cx="8809463" cy="0"/>
          </a:xfrm>
          <a:prstGeom prst="straightConnector1">
            <a:avLst/>
          </a:prstGeom>
          <a:noFill/>
          <a:ln cap="flat" cmpd="sng" w="28575">
            <a:solidFill>
              <a:srgbClr val="FABF8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4" name="Google Shape;274;p16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grpSp>
        <p:nvGrpSpPr>
          <p:cNvPr id="275" name="Google Shape;275;p16"/>
          <p:cNvGrpSpPr/>
          <p:nvPr/>
        </p:nvGrpSpPr>
        <p:grpSpPr>
          <a:xfrm>
            <a:off x="622146" y="1417638"/>
            <a:ext cx="5962920" cy="430887"/>
            <a:chOff x="622146" y="1417638"/>
            <a:chExt cx="5962920" cy="430887"/>
          </a:xfrm>
        </p:grpSpPr>
        <p:sp>
          <p:nvSpPr>
            <p:cNvPr id="276" name="Google Shape;276;p16"/>
            <p:cNvSpPr/>
            <p:nvPr/>
          </p:nvSpPr>
          <p:spPr>
            <a:xfrm flipH="1">
              <a:off x="622146" y="1502110"/>
              <a:ext cx="45719" cy="261942"/>
            </a:xfrm>
            <a:prstGeom prst="roundRect">
              <a:avLst>
                <a:gd fmla="val 16667" name="adj"/>
              </a:avLst>
            </a:prstGeom>
            <a:solidFill>
              <a:srgbClr val="538CD5"/>
            </a:solidFill>
            <a:ln cap="flat" cmpd="sng" w="25400">
              <a:solidFill>
                <a:srgbClr val="538CD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7" name="Google Shape;277;p16"/>
            <p:cNvSpPr txBox="1"/>
            <p:nvPr/>
          </p:nvSpPr>
          <p:spPr>
            <a:xfrm>
              <a:off x="680410" y="1417638"/>
              <a:ext cx="5904656" cy="4308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TW" sz="2200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主程式 RTL Code </a:t>
              </a:r>
              <a:r>
                <a:rPr b="1" lang="zh-TW" sz="1800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(2/6)</a:t>
              </a:r>
              <a:endParaRPr b="1" sz="18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</p:grpSp>
      <p:pic>
        <p:nvPicPr>
          <p:cNvPr descr="一張含有 文字, 螢幕擷取畫面, 字型 的圖片&#10;&#10;自動產生的描述" id="278" name="Google Shape;27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8418" y="1895498"/>
            <a:ext cx="5371965" cy="4685323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16"/>
          <p:cNvSpPr/>
          <p:nvPr/>
        </p:nvSpPr>
        <p:spPr>
          <a:xfrm>
            <a:off x="768419" y="1866206"/>
            <a:ext cx="3959430" cy="266650"/>
          </a:xfrm>
          <a:prstGeom prst="rect">
            <a:avLst/>
          </a:prstGeom>
          <a:noFill/>
          <a:ln cap="flat" cmpd="sng" w="25400">
            <a:solidFill>
              <a:srgbClr val="E36C0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E36C0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7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Microsoft JhengHei"/>
              <a:buNone/>
            </a:pPr>
            <a:r>
              <a:rPr b="1" lang="zh-TW" sz="3800">
                <a:latin typeface="Microsoft JhengHei"/>
                <a:ea typeface="Microsoft JhengHei"/>
                <a:cs typeface="Microsoft JhengHei"/>
                <a:sym typeface="Microsoft JhengHei"/>
              </a:rPr>
              <a:t>Demo	</a:t>
            </a:r>
            <a:endParaRPr b="1" sz="3800"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cxnSp>
        <p:nvCxnSpPr>
          <p:cNvPr id="286" name="Google Shape;286;p17"/>
          <p:cNvCxnSpPr/>
          <p:nvPr/>
        </p:nvCxnSpPr>
        <p:spPr>
          <a:xfrm>
            <a:off x="609600" y="1268760"/>
            <a:ext cx="8809463" cy="0"/>
          </a:xfrm>
          <a:prstGeom prst="straightConnector1">
            <a:avLst/>
          </a:prstGeom>
          <a:noFill/>
          <a:ln cap="flat" cmpd="sng" w="28575">
            <a:solidFill>
              <a:srgbClr val="FABF8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7" name="Google Shape;287;p17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grpSp>
        <p:nvGrpSpPr>
          <p:cNvPr id="288" name="Google Shape;288;p17"/>
          <p:cNvGrpSpPr/>
          <p:nvPr/>
        </p:nvGrpSpPr>
        <p:grpSpPr>
          <a:xfrm>
            <a:off x="622146" y="1417638"/>
            <a:ext cx="5962920" cy="430887"/>
            <a:chOff x="622146" y="1417638"/>
            <a:chExt cx="5962920" cy="430887"/>
          </a:xfrm>
        </p:grpSpPr>
        <p:sp>
          <p:nvSpPr>
            <p:cNvPr id="289" name="Google Shape;289;p17"/>
            <p:cNvSpPr/>
            <p:nvPr/>
          </p:nvSpPr>
          <p:spPr>
            <a:xfrm flipH="1">
              <a:off x="622146" y="1502110"/>
              <a:ext cx="45719" cy="261942"/>
            </a:xfrm>
            <a:prstGeom prst="roundRect">
              <a:avLst>
                <a:gd fmla="val 16667" name="adj"/>
              </a:avLst>
            </a:prstGeom>
            <a:solidFill>
              <a:srgbClr val="538CD5"/>
            </a:solidFill>
            <a:ln cap="flat" cmpd="sng" w="25400">
              <a:solidFill>
                <a:srgbClr val="538CD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0" name="Google Shape;290;p17"/>
            <p:cNvSpPr txBox="1"/>
            <p:nvPr/>
          </p:nvSpPr>
          <p:spPr>
            <a:xfrm>
              <a:off x="680410" y="1417638"/>
              <a:ext cx="5904656" cy="4308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TW" sz="2200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主程式 RTL Code </a:t>
              </a:r>
              <a:r>
                <a:rPr b="1" lang="zh-TW" sz="1800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(3/6)</a:t>
              </a:r>
              <a:endParaRPr b="1" sz="18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</p:grpSp>
      <p:pic>
        <p:nvPicPr>
          <p:cNvPr descr="一張含有 文字, 螢幕擷取畫面, 字型 的圖片&#10;&#10;自動產生的描述" id="291" name="Google Shape;29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8418" y="1895498"/>
            <a:ext cx="5371965" cy="4685323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17"/>
          <p:cNvSpPr/>
          <p:nvPr/>
        </p:nvSpPr>
        <p:spPr>
          <a:xfrm>
            <a:off x="1343472" y="2204864"/>
            <a:ext cx="3816424" cy="2016224"/>
          </a:xfrm>
          <a:prstGeom prst="rect">
            <a:avLst/>
          </a:prstGeom>
          <a:noFill/>
          <a:ln cap="flat" cmpd="sng" w="25400">
            <a:solidFill>
              <a:srgbClr val="E36C0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E36C0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8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Microsoft JhengHei"/>
              <a:buNone/>
            </a:pPr>
            <a:r>
              <a:rPr b="1" lang="zh-TW" sz="3800">
                <a:latin typeface="Microsoft JhengHei"/>
                <a:ea typeface="Microsoft JhengHei"/>
                <a:cs typeface="Microsoft JhengHei"/>
                <a:sym typeface="Microsoft JhengHei"/>
              </a:rPr>
              <a:t>Demo	</a:t>
            </a:r>
            <a:endParaRPr b="1" sz="3800"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cxnSp>
        <p:nvCxnSpPr>
          <p:cNvPr id="299" name="Google Shape;299;p18"/>
          <p:cNvCxnSpPr/>
          <p:nvPr/>
        </p:nvCxnSpPr>
        <p:spPr>
          <a:xfrm>
            <a:off x="609600" y="1268760"/>
            <a:ext cx="8809463" cy="0"/>
          </a:xfrm>
          <a:prstGeom prst="straightConnector1">
            <a:avLst/>
          </a:prstGeom>
          <a:noFill/>
          <a:ln cap="flat" cmpd="sng" w="28575">
            <a:solidFill>
              <a:srgbClr val="FABF8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0" name="Google Shape;300;p18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grpSp>
        <p:nvGrpSpPr>
          <p:cNvPr id="301" name="Google Shape;301;p18"/>
          <p:cNvGrpSpPr/>
          <p:nvPr/>
        </p:nvGrpSpPr>
        <p:grpSpPr>
          <a:xfrm>
            <a:off x="622146" y="1417638"/>
            <a:ext cx="5962920" cy="430887"/>
            <a:chOff x="622146" y="1417638"/>
            <a:chExt cx="5962920" cy="430887"/>
          </a:xfrm>
        </p:grpSpPr>
        <p:sp>
          <p:nvSpPr>
            <p:cNvPr id="302" name="Google Shape;302;p18"/>
            <p:cNvSpPr/>
            <p:nvPr/>
          </p:nvSpPr>
          <p:spPr>
            <a:xfrm flipH="1">
              <a:off x="622146" y="1502110"/>
              <a:ext cx="45719" cy="261942"/>
            </a:xfrm>
            <a:prstGeom prst="roundRect">
              <a:avLst>
                <a:gd fmla="val 16667" name="adj"/>
              </a:avLst>
            </a:prstGeom>
            <a:solidFill>
              <a:srgbClr val="538CD5"/>
            </a:solidFill>
            <a:ln cap="flat" cmpd="sng" w="25400">
              <a:solidFill>
                <a:srgbClr val="538CD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3" name="Google Shape;303;p18"/>
            <p:cNvSpPr txBox="1"/>
            <p:nvPr/>
          </p:nvSpPr>
          <p:spPr>
            <a:xfrm>
              <a:off x="680410" y="1417638"/>
              <a:ext cx="5904656" cy="4308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TW" sz="2200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主程式 RTL Code </a:t>
              </a:r>
              <a:r>
                <a:rPr b="1" lang="zh-TW" sz="1800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(4/6)</a:t>
              </a:r>
              <a:endParaRPr b="1" sz="18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</p:grpSp>
      <p:pic>
        <p:nvPicPr>
          <p:cNvPr descr="一張含有 文字, 螢幕擷取畫面, 字型 的圖片&#10;&#10;自動產生的描述" id="304" name="Google Shape;30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8418" y="1895498"/>
            <a:ext cx="5369989" cy="4683600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18"/>
          <p:cNvSpPr/>
          <p:nvPr/>
        </p:nvSpPr>
        <p:spPr>
          <a:xfrm>
            <a:off x="1991544" y="4229212"/>
            <a:ext cx="3960440" cy="927980"/>
          </a:xfrm>
          <a:prstGeom prst="rect">
            <a:avLst/>
          </a:prstGeom>
          <a:noFill/>
          <a:ln cap="flat" cmpd="sng" w="25400">
            <a:solidFill>
              <a:srgbClr val="E36C0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9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Microsoft JhengHei"/>
              <a:buNone/>
            </a:pPr>
            <a:r>
              <a:rPr b="1" lang="zh-TW" sz="3800">
                <a:latin typeface="Microsoft JhengHei"/>
                <a:ea typeface="Microsoft JhengHei"/>
                <a:cs typeface="Microsoft JhengHei"/>
                <a:sym typeface="Microsoft JhengHei"/>
              </a:rPr>
              <a:t>Demo	</a:t>
            </a:r>
            <a:endParaRPr b="1" sz="3800"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cxnSp>
        <p:nvCxnSpPr>
          <p:cNvPr id="312" name="Google Shape;312;p19"/>
          <p:cNvCxnSpPr/>
          <p:nvPr/>
        </p:nvCxnSpPr>
        <p:spPr>
          <a:xfrm>
            <a:off x="609600" y="1268760"/>
            <a:ext cx="8809463" cy="0"/>
          </a:xfrm>
          <a:prstGeom prst="straightConnector1">
            <a:avLst/>
          </a:prstGeom>
          <a:noFill/>
          <a:ln cap="flat" cmpd="sng" w="28575">
            <a:solidFill>
              <a:srgbClr val="FABF8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3" name="Google Shape;313;p19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grpSp>
        <p:nvGrpSpPr>
          <p:cNvPr id="314" name="Google Shape;314;p19"/>
          <p:cNvGrpSpPr/>
          <p:nvPr/>
        </p:nvGrpSpPr>
        <p:grpSpPr>
          <a:xfrm>
            <a:off x="622146" y="1417638"/>
            <a:ext cx="5962920" cy="430887"/>
            <a:chOff x="622146" y="1417638"/>
            <a:chExt cx="5962920" cy="430887"/>
          </a:xfrm>
        </p:grpSpPr>
        <p:sp>
          <p:nvSpPr>
            <p:cNvPr id="315" name="Google Shape;315;p19"/>
            <p:cNvSpPr/>
            <p:nvPr/>
          </p:nvSpPr>
          <p:spPr>
            <a:xfrm flipH="1">
              <a:off x="622146" y="1502110"/>
              <a:ext cx="45719" cy="261942"/>
            </a:xfrm>
            <a:prstGeom prst="roundRect">
              <a:avLst>
                <a:gd fmla="val 16667" name="adj"/>
              </a:avLst>
            </a:prstGeom>
            <a:solidFill>
              <a:srgbClr val="538CD5"/>
            </a:solidFill>
            <a:ln cap="flat" cmpd="sng" w="25400">
              <a:solidFill>
                <a:srgbClr val="538CD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6" name="Google Shape;316;p19"/>
            <p:cNvSpPr txBox="1"/>
            <p:nvPr/>
          </p:nvSpPr>
          <p:spPr>
            <a:xfrm>
              <a:off x="680410" y="1417638"/>
              <a:ext cx="5904656" cy="4308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TW" sz="2200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主程式 RTL Code </a:t>
              </a:r>
              <a:r>
                <a:rPr b="1" lang="zh-TW" sz="1800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(5/6)</a:t>
              </a:r>
              <a:endParaRPr b="1" sz="18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</p:grpSp>
      <p:pic>
        <p:nvPicPr>
          <p:cNvPr descr="一張含有 文字, 螢幕擷取畫面, 字型 的圖片&#10;&#10;自動產生的描述" id="317" name="Google Shape;31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8418" y="1895498"/>
            <a:ext cx="5369989" cy="4683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19"/>
          <p:cNvSpPr/>
          <p:nvPr/>
        </p:nvSpPr>
        <p:spPr>
          <a:xfrm>
            <a:off x="768418" y="5085184"/>
            <a:ext cx="5301305" cy="1495637"/>
          </a:xfrm>
          <a:prstGeom prst="rect">
            <a:avLst/>
          </a:prstGeom>
          <a:noFill/>
          <a:ln cap="flat" cmpd="sng" w="25400">
            <a:solidFill>
              <a:srgbClr val="E36C0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20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Microsoft JhengHei"/>
              <a:buNone/>
            </a:pPr>
            <a:r>
              <a:rPr b="1" lang="zh-TW" sz="3800">
                <a:latin typeface="Microsoft JhengHei"/>
                <a:ea typeface="Microsoft JhengHei"/>
                <a:cs typeface="Microsoft JhengHei"/>
                <a:sym typeface="Microsoft JhengHei"/>
              </a:rPr>
              <a:t>Demo	</a:t>
            </a:r>
            <a:endParaRPr b="1" sz="3800"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cxnSp>
        <p:nvCxnSpPr>
          <p:cNvPr id="325" name="Google Shape;325;p20"/>
          <p:cNvCxnSpPr/>
          <p:nvPr/>
        </p:nvCxnSpPr>
        <p:spPr>
          <a:xfrm>
            <a:off x="609600" y="1268760"/>
            <a:ext cx="8809463" cy="0"/>
          </a:xfrm>
          <a:prstGeom prst="straightConnector1">
            <a:avLst/>
          </a:prstGeom>
          <a:noFill/>
          <a:ln cap="flat" cmpd="sng" w="28575">
            <a:solidFill>
              <a:srgbClr val="FABF8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6" name="Google Shape;326;p20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descr="一張含有 文字, 字型, 螢幕擷取畫面 的圖片&#10;&#10;自動產生的描述" id="327" name="Google Shape;327;p20"/>
          <p:cNvPicPr preferRelativeResize="0"/>
          <p:nvPr/>
        </p:nvPicPr>
        <p:blipFill rotWithShape="1">
          <a:blip r:embed="rId3">
            <a:alphaModFix/>
          </a:blip>
          <a:srcRect b="0" l="1172" r="0" t="0"/>
          <a:stretch/>
        </p:blipFill>
        <p:spPr>
          <a:xfrm>
            <a:off x="714546" y="2230200"/>
            <a:ext cx="5165430" cy="171155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8" name="Google Shape;328;p20"/>
          <p:cNvGrpSpPr/>
          <p:nvPr/>
        </p:nvGrpSpPr>
        <p:grpSpPr>
          <a:xfrm>
            <a:off x="622146" y="1417638"/>
            <a:ext cx="5962920" cy="430887"/>
            <a:chOff x="622146" y="1417638"/>
            <a:chExt cx="5962920" cy="430887"/>
          </a:xfrm>
        </p:grpSpPr>
        <p:sp>
          <p:nvSpPr>
            <p:cNvPr id="329" name="Google Shape;329;p20"/>
            <p:cNvSpPr/>
            <p:nvPr/>
          </p:nvSpPr>
          <p:spPr>
            <a:xfrm flipH="1">
              <a:off x="622146" y="1502110"/>
              <a:ext cx="45719" cy="261942"/>
            </a:xfrm>
            <a:prstGeom prst="roundRect">
              <a:avLst>
                <a:gd fmla="val 16667" name="adj"/>
              </a:avLst>
            </a:prstGeom>
            <a:solidFill>
              <a:srgbClr val="538CD5"/>
            </a:solidFill>
            <a:ln cap="flat" cmpd="sng" w="25400">
              <a:solidFill>
                <a:srgbClr val="538CD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0" name="Google Shape;330;p20"/>
            <p:cNvSpPr txBox="1"/>
            <p:nvPr/>
          </p:nvSpPr>
          <p:spPr>
            <a:xfrm>
              <a:off x="680410" y="1417638"/>
              <a:ext cx="5904656" cy="4308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TW" sz="2200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主程式 RTL Code </a:t>
              </a:r>
              <a:r>
                <a:rPr b="1" lang="zh-TW" sz="1800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(6/6)</a:t>
              </a:r>
              <a:endParaRPr b="1" sz="18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21"/>
          <p:cNvSpPr txBox="1"/>
          <p:nvPr>
            <p:ph type="title"/>
          </p:nvPr>
        </p:nvSpPr>
        <p:spPr>
          <a:xfrm>
            <a:off x="609600" y="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Microsoft JhengHei"/>
              <a:buNone/>
            </a:pPr>
            <a:r>
              <a:rPr b="1" lang="zh-TW" sz="3800">
                <a:latin typeface="Microsoft JhengHei"/>
                <a:ea typeface="Microsoft JhengHei"/>
                <a:cs typeface="Microsoft JhengHei"/>
                <a:sym typeface="Microsoft JhengHei"/>
              </a:rPr>
              <a:t>Demo	</a:t>
            </a:r>
            <a:endParaRPr b="1" sz="3800"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cxnSp>
        <p:nvCxnSpPr>
          <p:cNvPr id="337" name="Google Shape;337;p21"/>
          <p:cNvCxnSpPr/>
          <p:nvPr/>
        </p:nvCxnSpPr>
        <p:spPr>
          <a:xfrm>
            <a:off x="609600" y="908720"/>
            <a:ext cx="8809463" cy="0"/>
          </a:xfrm>
          <a:prstGeom prst="straightConnector1">
            <a:avLst/>
          </a:prstGeom>
          <a:noFill/>
          <a:ln cap="flat" cmpd="sng" w="28575">
            <a:solidFill>
              <a:srgbClr val="FABF8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8" name="Google Shape;338;p21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grpSp>
        <p:nvGrpSpPr>
          <p:cNvPr id="339" name="Google Shape;339;p21"/>
          <p:cNvGrpSpPr/>
          <p:nvPr/>
        </p:nvGrpSpPr>
        <p:grpSpPr>
          <a:xfrm>
            <a:off x="622146" y="977927"/>
            <a:ext cx="5962920" cy="430887"/>
            <a:chOff x="622146" y="1417638"/>
            <a:chExt cx="5962920" cy="430887"/>
          </a:xfrm>
        </p:grpSpPr>
        <p:sp>
          <p:nvSpPr>
            <p:cNvPr id="340" name="Google Shape;340;p21"/>
            <p:cNvSpPr/>
            <p:nvPr/>
          </p:nvSpPr>
          <p:spPr>
            <a:xfrm flipH="1">
              <a:off x="622146" y="1502110"/>
              <a:ext cx="45719" cy="261942"/>
            </a:xfrm>
            <a:prstGeom prst="roundRect">
              <a:avLst>
                <a:gd fmla="val 16667" name="adj"/>
              </a:avLst>
            </a:prstGeom>
            <a:solidFill>
              <a:srgbClr val="538CD5"/>
            </a:solidFill>
            <a:ln cap="flat" cmpd="sng" w="25400">
              <a:solidFill>
                <a:srgbClr val="538CD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1" name="Google Shape;341;p21"/>
            <p:cNvSpPr txBox="1"/>
            <p:nvPr/>
          </p:nvSpPr>
          <p:spPr>
            <a:xfrm>
              <a:off x="680410" y="1417638"/>
              <a:ext cx="5904656" cy="4308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TW" sz="2200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Testbench code</a:t>
              </a:r>
              <a:endParaRPr b="1" sz="2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</p:grpSp>
      <p:pic>
        <p:nvPicPr>
          <p:cNvPr descr="一張含有 文字, 螢幕擷取畫面, 字型 的圖片&#10;&#10;自動產生的描述" id="342" name="Google Shape;34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7408" y="1418002"/>
            <a:ext cx="5928999" cy="51761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2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Microsoft JhengHei"/>
              <a:buNone/>
            </a:pPr>
            <a:r>
              <a:rPr b="1" lang="zh-TW" sz="3800">
                <a:latin typeface="Microsoft JhengHei"/>
                <a:ea typeface="Microsoft JhengHei"/>
                <a:cs typeface="Microsoft JhengHei"/>
                <a:sym typeface="Microsoft JhengHei"/>
              </a:rPr>
              <a:t>Demo	</a:t>
            </a:r>
            <a:endParaRPr b="1" sz="3800"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cxnSp>
        <p:nvCxnSpPr>
          <p:cNvPr id="349" name="Google Shape;349;p22"/>
          <p:cNvCxnSpPr/>
          <p:nvPr/>
        </p:nvCxnSpPr>
        <p:spPr>
          <a:xfrm>
            <a:off x="609600" y="1268760"/>
            <a:ext cx="8809463" cy="0"/>
          </a:xfrm>
          <a:prstGeom prst="straightConnector1">
            <a:avLst/>
          </a:prstGeom>
          <a:noFill/>
          <a:ln cap="flat" cmpd="sng" w="28575">
            <a:solidFill>
              <a:srgbClr val="FABF8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0" name="Google Shape;350;p22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grpSp>
        <p:nvGrpSpPr>
          <p:cNvPr id="351" name="Google Shape;351;p22"/>
          <p:cNvGrpSpPr/>
          <p:nvPr/>
        </p:nvGrpSpPr>
        <p:grpSpPr>
          <a:xfrm>
            <a:off x="609600" y="1407309"/>
            <a:ext cx="5950375" cy="430887"/>
            <a:chOff x="609600" y="1407309"/>
            <a:chExt cx="5950375" cy="430887"/>
          </a:xfrm>
        </p:grpSpPr>
        <p:sp>
          <p:nvSpPr>
            <p:cNvPr id="352" name="Google Shape;352;p22"/>
            <p:cNvSpPr/>
            <p:nvPr/>
          </p:nvSpPr>
          <p:spPr>
            <a:xfrm flipH="1">
              <a:off x="609600" y="1491781"/>
              <a:ext cx="45719" cy="261942"/>
            </a:xfrm>
            <a:prstGeom prst="roundRect">
              <a:avLst>
                <a:gd fmla="val 16667" name="adj"/>
              </a:avLst>
            </a:prstGeom>
            <a:solidFill>
              <a:srgbClr val="538CD5"/>
            </a:solidFill>
            <a:ln cap="flat" cmpd="sng" w="25400">
              <a:solidFill>
                <a:srgbClr val="538CD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3" name="Google Shape;353;p22"/>
            <p:cNvSpPr txBox="1"/>
            <p:nvPr/>
          </p:nvSpPr>
          <p:spPr>
            <a:xfrm>
              <a:off x="655319" y="1407309"/>
              <a:ext cx="5904656" cy="4308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TW" sz="2200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TestBench Code </a:t>
              </a:r>
              <a:r>
                <a:rPr b="1" lang="zh-TW" sz="1800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(1/3)</a:t>
              </a:r>
              <a:endParaRPr b="1" sz="18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</p:grpSp>
      <p:pic>
        <p:nvPicPr>
          <p:cNvPr descr="一張含有 文字, 字型, 螢幕擷取畫面, 收據 的圖片&#10;&#10;自動產生的描述" id="354" name="Google Shape;354;p22"/>
          <p:cNvPicPr preferRelativeResize="0"/>
          <p:nvPr/>
        </p:nvPicPr>
        <p:blipFill rotWithShape="1">
          <a:blip r:embed="rId3">
            <a:alphaModFix/>
          </a:blip>
          <a:srcRect b="0" l="1849" r="0" t="0"/>
          <a:stretch/>
        </p:blipFill>
        <p:spPr>
          <a:xfrm>
            <a:off x="767408" y="2132857"/>
            <a:ext cx="3240360" cy="16080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23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Microsoft JhengHei"/>
              <a:buNone/>
            </a:pPr>
            <a:r>
              <a:rPr b="1" lang="zh-TW" sz="3800">
                <a:latin typeface="Microsoft JhengHei"/>
                <a:ea typeface="Microsoft JhengHei"/>
                <a:cs typeface="Microsoft JhengHei"/>
                <a:sym typeface="Microsoft JhengHei"/>
              </a:rPr>
              <a:t>Demo	</a:t>
            </a:r>
            <a:endParaRPr b="1" sz="3800"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cxnSp>
        <p:nvCxnSpPr>
          <p:cNvPr id="361" name="Google Shape;361;p23"/>
          <p:cNvCxnSpPr/>
          <p:nvPr/>
        </p:nvCxnSpPr>
        <p:spPr>
          <a:xfrm>
            <a:off x="609600" y="1268760"/>
            <a:ext cx="8809463" cy="0"/>
          </a:xfrm>
          <a:prstGeom prst="straightConnector1">
            <a:avLst/>
          </a:prstGeom>
          <a:noFill/>
          <a:ln cap="flat" cmpd="sng" w="28575">
            <a:solidFill>
              <a:srgbClr val="FABF8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2" name="Google Shape;362;p23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descr="一張含有 文字, 螢幕擷取畫面, 字型 的圖片&#10;&#10;自動產生的描述" id="363" name="Google Shape;36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7408" y="1998531"/>
            <a:ext cx="4477227" cy="391234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64" name="Google Shape;364;p23"/>
          <p:cNvGrpSpPr/>
          <p:nvPr/>
        </p:nvGrpSpPr>
        <p:grpSpPr>
          <a:xfrm>
            <a:off x="609600" y="1407309"/>
            <a:ext cx="5950375" cy="430887"/>
            <a:chOff x="609600" y="1407309"/>
            <a:chExt cx="5950375" cy="430887"/>
          </a:xfrm>
        </p:grpSpPr>
        <p:sp>
          <p:nvSpPr>
            <p:cNvPr id="365" name="Google Shape;365;p23"/>
            <p:cNvSpPr/>
            <p:nvPr/>
          </p:nvSpPr>
          <p:spPr>
            <a:xfrm flipH="1">
              <a:off x="609600" y="1491781"/>
              <a:ext cx="45719" cy="261942"/>
            </a:xfrm>
            <a:prstGeom prst="roundRect">
              <a:avLst>
                <a:gd fmla="val 16667" name="adj"/>
              </a:avLst>
            </a:prstGeom>
            <a:solidFill>
              <a:srgbClr val="538CD5"/>
            </a:solidFill>
            <a:ln cap="flat" cmpd="sng" w="25400">
              <a:solidFill>
                <a:srgbClr val="538CD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6" name="Google Shape;366;p23"/>
            <p:cNvSpPr txBox="1"/>
            <p:nvPr/>
          </p:nvSpPr>
          <p:spPr>
            <a:xfrm>
              <a:off x="655319" y="1407309"/>
              <a:ext cx="5904656" cy="4308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TW" sz="2200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TestBench Code </a:t>
              </a:r>
              <a:r>
                <a:rPr b="1" lang="zh-TW" sz="1800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(2/3)</a:t>
              </a:r>
              <a:endParaRPr b="1" sz="18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24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Microsoft JhengHei"/>
              <a:buNone/>
            </a:pPr>
            <a:r>
              <a:rPr b="1" lang="zh-TW" sz="3800">
                <a:latin typeface="Microsoft JhengHei"/>
                <a:ea typeface="Microsoft JhengHei"/>
                <a:cs typeface="Microsoft JhengHei"/>
                <a:sym typeface="Microsoft JhengHei"/>
              </a:rPr>
              <a:t>Demo	</a:t>
            </a:r>
            <a:endParaRPr b="1" sz="3800"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cxnSp>
        <p:nvCxnSpPr>
          <p:cNvPr id="373" name="Google Shape;373;p24"/>
          <p:cNvCxnSpPr/>
          <p:nvPr/>
        </p:nvCxnSpPr>
        <p:spPr>
          <a:xfrm>
            <a:off x="609600" y="1268760"/>
            <a:ext cx="8809463" cy="0"/>
          </a:xfrm>
          <a:prstGeom prst="straightConnector1">
            <a:avLst/>
          </a:prstGeom>
          <a:noFill/>
          <a:ln cap="flat" cmpd="sng" w="28575">
            <a:solidFill>
              <a:srgbClr val="FABF8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4" name="Google Shape;374;p24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descr="一張含有 文字, 字型, 螢幕擷取畫面 的圖片&#10;&#10;自動產生的描述" id="375" name="Google Shape;37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7408" y="2172577"/>
            <a:ext cx="8810625" cy="1143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76" name="Google Shape;376;p24"/>
          <p:cNvGrpSpPr/>
          <p:nvPr/>
        </p:nvGrpSpPr>
        <p:grpSpPr>
          <a:xfrm>
            <a:off x="609600" y="1407309"/>
            <a:ext cx="5950375" cy="430887"/>
            <a:chOff x="609600" y="1407309"/>
            <a:chExt cx="5950375" cy="430887"/>
          </a:xfrm>
        </p:grpSpPr>
        <p:sp>
          <p:nvSpPr>
            <p:cNvPr id="377" name="Google Shape;377;p24"/>
            <p:cNvSpPr/>
            <p:nvPr/>
          </p:nvSpPr>
          <p:spPr>
            <a:xfrm flipH="1">
              <a:off x="609600" y="1491781"/>
              <a:ext cx="45719" cy="261942"/>
            </a:xfrm>
            <a:prstGeom prst="roundRect">
              <a:avLst>
                <a:gd fmla="val 16667" name="adj"/>
              </a:avLst>
            </a:prstGeom>
            <a:solidFill>
              <a:srgbClr val="538CD5"/>
            </a:solidFill>
            <a:ln cap="flat" cmpd="sng" w="25400">
              <a:solidFill>
                <a:srgbClr val="538CD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8" name="Google Shape;378;p24"/>
            <p:cNvSpPr txBox="1"/>
            <p:nvPr/>
          </p:nvSpPr>
          <p:spPr>
            <a:xfrm>
              <a:off x="655319" y="1407309"/>
              <a:ext cx="5904656" cy="4308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TW" sz="2200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TestBench Code </a:t>
              </a:r>
              <a:r>
                <a:rPr b="1" lang="zh-TW" sz="1800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(3/3)</a:t>
              </a:r>
              <a:endParaRPr b="1" sz="18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25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Microsoft JhengHei"/>
              <a:buNone/>
            </a:pPr>
            <a:r>
              <a:rPr b="1" lang="zh-TW" sz="3800">
                <a:latin typeface="Microsoft JhengHei"/>
                <a:ea typeface="Microsoft JhengHei"/>
                <a:cs typeface="Microsoft JhengHei"/>
                <a:sym typeface="Microsoft JhengHei"/>
              </a:rPr>
              <a:t>Demo	</a:t>
            </a:r>
            <a:endParaRPr b="1" sz="3800"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cxnSp>
        <p:nvCxnSpPr>
          <p:cNvPr id="385" name="Google Shape;385;p25"/>
          <p:cNvCxnSpPr/>
          <p:nvPr/>
        </p:nvCxnSpPr>
        <p:spPr>
          <a:xfrm>
            <a:off x="609600" y="1268760"/>
            <a:ext cx="8809463" cy="0"/>
          </a:xfrm>
          <a:prstGeom prst="straightConnector1">
            <a:avLst/>
          </a:prstGeom>
          <a:noFill/>
          <a:ln cap="flat" cmpd="sng" w="28575">
            <a:solidFill>
              <a:srgbClr val="FABF8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6" name="Google Shape;386;p25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387" name="Google Shape;387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681" y="2132856"/>
            <a:ext cx="12084637" cy="108012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8" name="Google Shape;388;p25"/>
          <p:cNvGrpSpPr/>
          <p:nvPr/>
        </p:nvGrpSpPr>
        <p:grpSpPr>
          <a:xfrm>
            <a:off x="609600" y="1407309"/>
            <a:ext cx="5950375" cy="430887"/>
            <a:chOff x="609600" y="1407309"/>
            <a:chExt cx="5950375" cy="430887"/>
          </a:xfrm>
        </p:grpSpPr>
        <p:sp>
          <p:nvSpPr>
            <p:cNvPr id="389" name="Google Shape;389;p25"/>
            <p:cNvSpPr/>
            <p:nvPr/>
          </p:nvSpPr>
          <p:spPr>
            <a:xfrm flipH="1">
              <a:off x="609600" y="1491781"/>
              <a:ext cx="45719" cy="261942"/>
            </a:xfrm>
            <a:prstGeom prst="roundRect">
              <a:avLst>
                <a:gd fmla="val 16667" name="adj"/>
              </a:avLst>
            </a:prstGeom>
            <a:solidFill>
              <a:srgbClr val="538CD5"/>
            </a:solidFill>
            <a:ln cap="flat" cmpd="sng" w="25400">
              <a:solidFill>
                <a:srgbClr val="538CD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0" name="Google Shape;390;p25"/>
            <p:cNvSpPr txBox="1"/>
            <p:nvPr/>
          </p:nvSpPr>
          <p:spPr>
            <a:xfrm>
              <a:off x="655319" y="1407309"/>
              <a:ext cx="5904656" cy="4308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TW" sz="2200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Waveform</a:t>
              </a:r>
              <a:endParaRPr b="1" sz="2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</p:grpSp>
      <p:pic>
        <p:nvPicPr>
          <p:cNvPr id="391" name="Google Shape;391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681" y="3507636"/>
            <a:ext cx="12084638" cy="11776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26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Microsoft JhengHei"/>
              <a:buNone/>
            </a:pPr>
            <a:r>
              <a:rPr b="1" lang="zh-TW" sz="3800">
                <a:latin typeface="Microsoft JhengHei"/>
                <a:ea typeface="Microsoft JhengHei"/>
                <a:cs typeface="Microsoft JhengHei"/>
                <a:sym typeface="Microsoft JhengHei"/>
              </a:rPr>
              <a:t>結論	</a:t>
            </a:r>
            <a:endParaRPr b="1" sz="3800"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cxnSp>
        <p:nvCxnSpPr>
          <p:cNvPr id="398" name="Google Shape;398;p26"/>
          <p:cNvCxnSpPr/>
          <p:nvPr/>
        </p:nvCxnSpPr>
        <p:spPr>
          <a:xfrm>
            <a:off x="609600" y="1268760"/>
            <a:ext cx="8809463" cy="0"/>
          </a:xfrm>
          <a:prstGeom prst="straightConnector1">
            <a:avLst/>
          </a:prstGeom>
          <a:noFill/>
          <a:ln cap="flat" cmpd="sng" w="28575">
            <a:solidFill>
              <a:srgbClr val="FABF8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9" name="Google Shape;399;p26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grpSp>
        <p:nvGrpSpPr>
          <p:cNvPr id="400" name="Google Shape;400;p26"/>
          <p:cNvGrpSpPr/>
          <p:nvPr/>
        </p:nvGrpSpPr>
        <p:grpSpPr>
          <a:xfrm>
            <a:off x="609600" y="2262884"/>
            <a:ext cx="11463064" cy="2707793"/>
            <a:chOff x="609600" y="1407309"/>
            <a:chExt cx="5950375" cy="2526692"/>
          </a:xfrm>
        </p:grpSpPr>
        <p:sp>
          <p:nvSpPr>
            <p:cNvPr id="401" name="Google Shape;401;p26"/>
            <p:cNvSpPr/>
            <p:nvPr/>
          </p:nvSpPr>
          <p:spPr>
            <a:xfrm flipH="1">
              <a:off x="609600" y="1602254"/>
              <a:ext cx="45719" cy="261942"/>
            </a:xfrm>
            <a:prstGeom prst="roundRect">
              <a:avLst>
                <a:gd fmla="val 16667" name="adj"/>
              </a:avLst>
            </a:prstGeom>
            <a:solidFill>
              <a:srgbClr val="538CD5"/>
            </a:solidFill>
            <a:ln cap="flat" cmpd="sng" w="25400">
              <a:solidFill>
                <a:srgbClr val="538CD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2" name="Google Shape;402;p26"/>
            <p:cNvSpPr txBox="1"/>
            <p:nvPr/>
          </p:nvSpPr>
          <p:spPr>
            <a:xfrm>
              <a:off x="655319" y="1407309"/>
              <a:ext cx="5904656" cy="25266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zh-TW" sz="2200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Ping-Pong Buffer</a:t>
              </a:r>
              <a:r>
                <a:rPr b="0" i="0" lang="zh-TW" sz="2400">
                  <a:solidFill>
                    <a:srgbClr val="D1D5DB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1" i="0" lang="zh-TW" sz="2400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在各種應用中發揮著重要的作用，能夠確保數據的流暢傳輸和有效處理，同時提高系統的性能和效率。</a:t>
              </a:r>
              <a:endParaRPr b="1" i="0" sz="2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2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zh-TW" sz="2200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整體Ping-Pong Buffer 的設計，值得在需要</a:t>
              </a:r>
              <a:r>
                <a:rPr b="1" lang="zh-TW" sz="2200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執行</a:t>
              </a:r>
              <a:r>
                <a:rPr b="1" i="0" lang="zh-TW" sz="2200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數據交換和同步等應用時被廣泛採用。</a:t>
              </a:r>
              <a:endParaRPr b="1" i="0" sz="2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</p:grpSp>
      <p:sp>
        <p:nvSpPr>
          <p:cNvPr id="403" name="Google Shape;403;p26"/>
          <p:cNvSpPr/>
          <p:nvPr/>
        </p:nvSpPr>
        <p:spPr>
          <a:xfrm flipH="1">
            <a:off x="617743" y="4105482"/>
            <a:ext cx="82542" cy="280717"/>
          </a:xfrm>
          <a:prstGeom prst="roundRect">
            <a:avLst>
              <a:gd fmla="val 16667" name="adj"/>
            </a:avLst>
          </a:prstGeom>
          <a:solidFill>
            <a:srgbClr val="538CD5"/>
          </a:solidFill>
          <a:ln cap="flat" cmpd="sng" w="25400">
            <a:solidFill>
              <a:srgbClr val="538C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27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Microsoft JhengHei"/>
              <a:buNone/>
            </a:pPr>
            <a:r>
              <a:rPr b="1" lang="zh-TW" sz="3800">
                <a:latin typeface="Microsoft JhengHei"/>
                <a:ea typeface="Microsoft JhengHei"/>
                <a:cs typeface="Microsoft JhengHei"/>
                <a:sym typeface="Microsoft JhengHei"/>
              </a:rPr>
              <a:t>參考文獻</a:t>
            </a:r>
            <a:endParaRPr/>
          </a:p>
        </p:txBody>
      </p:sp>
      <p:cxnSp>
        <p:nvCxnSpPr>
          <p:cNvPr id="410" name="Google Shape;410;p27"/>
          <p:cNvCxnSpPr/>
          <p:nvPr/>
        </p:nvCxnSpPr>
        <p:spPr>
          <a:xfrm>
            <a:off x="609600" y="1268760"/>
            <a:ext cx="8809463" cy="0"/>
          </a:xfrm>
          <a:prstGeom prst="straightConnector1">
            <a:avLst/>
          </a:prstGeom>
          <a:noFill/>
          <a:ln cap="flat" cmpd="sng" w="28575">
            <a:solidFill>
              <a:srgbClr val="FABF8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1" name="Google Shape;411;p27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412" name="Google Shape;412;p27"/>
          <p:cNvSpPr txBox="1"/>
          <p:nvPr/>
        </p:nvSpPr>
        <p:spPr>
          <a:xfrm>
            <a:off x="609600" y="1803815"/>
            <a:ext cx="9518848" cy="2435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icrosoft JhengHei"/>
              <a:buChar char="–"/>
            </a:pPr>
            <a:r>
              <a:rPr lang="zh-TW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國家實驗研究院台灣半導體研究中心晶片設計課程Verilog(112C102-C/D)</a:t>
            </a:r>
            <a:br>
              <a:rPr lang="zh-TW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zh-TW" sz="20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https://fes.tsri.org.tw/trs/onlineapply/initWsvPage.action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icrosoft JhengHei"/>
              <a:buChar char="–"/>
            </a:pPr>
            <a:r>
              <a:rPr lang="zh-TW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數位IC複習 (十三) Ping-Pong Buffer 知乎專欄</a:t>
            </a:r>
            <a:br>
              <a:rPr lang="zh-TW" sz="20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zh-TW" sz="2000" u="sng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https://zhuanlan.zhihu.com/p/514616748</a:t>
            </a:r>
            <a:endParaRPr sz="20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158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icrosoft JhengHei"/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28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cxnSp>
        <p:nvCxnSpPr>
          <p:cNvPr id="419" name="Google Shape;419;p28"/>
          <p:cNvCxnSpPr/>
          <p:nvPr/>
        </p:nvCxnSpPr>
        <p:spPr>
          <a:xfrm>
            <a:off x="1847528" y="3573016"/>
            <a:ext cx="8809463" cy="0"/>
          </a:xfrm>
          <a:prstGeom prst="straightConnector1">
            <a:avLst/>
          </a:prstGeom>
          <a:noFill/>
          <a:ln cap="flat" cmpd="sng" w="28575">
            <a:solidFill>
              <a:srgbClr val="FABF8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0" name="Google Shape;420;p28"/>
          <p:cNvSpPr txBox="1"/>
          <p:nvPr/>
        </p:nvSpPr>
        <p:spPr>
          <a:xfrm>
            <a:off x="3048000" y="2625212"/>
            <a:ext cx="6096000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4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報告結束 感謝聆聽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佈景主題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佈景主題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2017-03-06T17:26:26Z</dcterms:created>
  <dc:creator>NING</dc:creator>
</cp:coreProperties>
</file>