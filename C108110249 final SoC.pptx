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ZYr8RqnI5p9kGPBa2wFzxuQr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A64E6C-2A84-488D-8709-EA9A62DC847F}">
  <a:tblStyle styleId="{63A64E6C-2A84-488D-8709-EA9A62DC84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7154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3245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7154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3245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b="1" sz="1333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4pPr>
            <a:lvl5pPr indent="-228600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5pPr>
            <a:lvl6pPr indent="-228600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6pPr>
            <a:lvl7pPr indent="-228600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7pPr>
            <a:lvl8pPr indent="-228600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8pPr>
            <a:lvl9pPr indent="-228600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3245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6354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indent="-296354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indent="-296354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indent="-296354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indent="-296354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indent="-296354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b="1" sz="1333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4pPr>
            <a:lvl5pPr indent="-228600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5pPr>
            <a:lvl6pPr indent="-228600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6pPr>
            <a:lvl7pPr indent="-228600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7pPr>
            <a:lvl8pPr indent="-228600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8pPr>
            <a:lvl9pPr indent="-228600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3245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6354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indent="-296354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indent="-296354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indent="-296354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indent="-296354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indent="-296354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b="1" sz="13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045" lvl="0" marL="457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indent="-347154" lvl="1" marL="914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3245" lvl="3" marL="18288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indent="-313245" lvl="4" marL="22860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indent="-313245" lvl="5" marL="27432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indent="-313245" lvl="6" marL="3200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indent="-313245" lvl="7" marL="3657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indent="-313245" lvl="8" marL="41148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indent="-228600" lvl="1" marL="914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b="1" sz="13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indent="-228600" lvl="1" marL="914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1539346" y="-167746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3154892" y="1447800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b="0" i="0" sz="29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045" lvl="0" marL="457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7154" lvl="1" marL="914400" marR="0" rtl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3245" lvl="5" marL="27432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3245" lvl="6" marL="3200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3245" lvl="7" marL="36576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3245" lvl="8" marL="4114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zh.wikipedia.org/wiki/%E4%BA%8C%E8%BF%9B%E5%88%B6" TargetMode="External"/><Relationship Id="rId4" Type="http://schemas.openxmlformats.org/officeDocument/2006/relationships/hyperlink" Target="https://zh.wikipedia.org/wiki/%E6%95%B4%E6%95%B0" TargetMode="External"/><Relationship Id="rId11" Type="http://schemas.openxmlformats.org/officeDocument/2006/relationships/hyperlink" Target="https://zh.wikipedia.org/wiki/%E5%9C%96%E5%BD%A2%E8%99%95%E7%90%86%E5%99%A8" TargetMode="External"/><Relationship Id="rId10" Type="http://schemas.openxmlformats.org/officeDocument/2006/relationships/hyperlink" Target="https://zh.wikipedia.org/wiki/%E6%B5%AE%E7%82%B9%E8%BF%90%E7%AE%97%E5%99%A8" TargetMode="External"/><Relationship Id="rId12" Type="http://schemas.openxmlformats.org/officeDocument/2006/relationships/image" Target="../media/image1.png"/><Relationship Id="rId9" Type="http://schemas.openxmlformats.org/officeDocument/2006/relationships/hyperlink" Target="https://zh.wikipedia.org/wiki/%E4%B8%AD%E5%A4%AE%E5%A4%84%E7%90%86%E5%99%A8" TargetMode="External"/><Relationship Id="rId5" Type="http://schemas.openxmlformats.org/officeDocument/2006/relationships/hyperlink" Target="https://zh.wikipedia.org/wiki/%E7%AE%97%E6%9C%AF" TargetMode="External"/><Relationship Id="rId6" Type="http://schemas.openxmlformats.org/officeDocument/2006/relationships/hyperlink" Target="https://zh.wikipedia.org/wiki/%E4%BD%8D%E6%93%8D%E4%BD%9C" TargetMode="External"/><Relationship Id="rId7" Type="http://schemas.openxmlformats.org/officeDocument/2006/relationships/hyperlink" Target="https://zh.wikipedia.org/wiki/%E7%BB%84%E5%90%88%E9%80%BB%E8%BE%91%E7%94%B5%E8%B7%AF" TargetMode="External"/><Relationship Id="rId8" Type="http://schemas.openxmlformats.org/officeDocument/2006/relationships/hyperlink" Target="https://zh.wikipedia.org/wiki/%E6%95%B0%E5%AD%97%E7%94%B5%E8%B7%A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1294362" y="1192921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 Lab-FINAL Project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Arithmetic logic unit</a:t>
            </a:r>
            <a:r>
              <a:rPr b="0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(ALU)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35681" y="4185366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姓名:林宇廷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學號:C108110249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授課老師:謝瑞鴻教授</a:t>
            </a:r>
            <a:endParaRPr/>
          </a:p>
          <a:p>
            <a:pPr indent="-93165" lvl="0" marL="228611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294362" y="577781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大綱</a:t>
            </a:r>
            <a:endParaRPr b="0" i="0" sz="29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245825" y="2367731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1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介紹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28611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TCL (Tool Command Language) File</a:t>
            </a:r>
            <a:endParaRPr/>
          </a:p>
          <a:p>
            <a:pPr indent="-254000" lvl="0" marL="228611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製程比較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28611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165" lvl="0" marL="228611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3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25" name="Google Shape;125;p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28" name="Google Shape;128;p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"/>
          <p:cNvSpPr txBox="1"/>
          <p:nvPr/>
        </p:nvSpPr>
        <p:spPr>
          <a:xfrm>
            <a:off x="1173817" y="1376638"/>
            <a:ext cx="9844361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甚麼是ALU(</a:t>
            </a:r>
            <a:r>
              <a:rPr b="0" i="0" lang="en-US" sz="28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Arithmetic logic unit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1.一種可對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二進位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整數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執行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算術運算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或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位元運算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組合邏輯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數位電路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20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ALU 是許多類型的計算電路的基本部件，包括電腦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中央處理單元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（CPU）、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浮點處理單元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（FPU）和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圖形處理單元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（GPU) 。而單個CPU、FPU    或 GPU 可能包含多個 ALU。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294359" y="375454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介紹</a:t>
            </a:r>
            <a:endParaRPr b="0" sz="4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57808" y="3359433"/>
            <a:ext cx="4476378" cy="3060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41" name="Google Shape;141;p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44" name="Google Shape;144;p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46" name="Google Shape;146;p4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47" name="Google Shape;147;p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50" name="Google Shape;150;p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4"/>
          <p:cNvSpPr txBox="1"/>
          <p:nvPr/>
        </p:nvSpPr>
        <p:spPr>
          <a:xfrm>
            <a:off x="1028701" y="1115522"/>
            <a:ext cx="11003403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Synopsys Synthesis Scripts (Design Vision dctcl mode)#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Set Libraries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search_path {/lib/SAED90_EDK/SAED_EDK90nm_ccs_models_hvt}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synthetic_library dw_foundation.sldb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link_library { saed90nm_typ_ht_hvt_ccs.db dw_foundation.sldb}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target_library {saed90nm_typ_ht_hvt_ccs.db}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294362" y="388404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TCL File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59" name="Google Shape;159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62" name="Google Shape;162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5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65" name="Google Shape;165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68" name="Google Shape;168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1028701" y="202500"/>
            <a:ext cx="11003403" cy="775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Global Parameters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DESIGN "alu“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CLK_period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define_design_lib DESIGN_LIB -path ./LIB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Read RTL 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----- ALU 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read_verilog -rtl /home/111-2/VLSI/C108110249/DESIGN/RTL/lab5/alu.v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current_design $DESIGN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Global Setting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set_wire_load_mode enclosed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6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79" name="Google Shape;179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85" name="Google Shape;185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6"/>
          <p:cNvSpPr txBox="1"/>
          <p:nvPr/>
        </p:nvSpPr>
        <p:spPr>
          <a:xfrm>
            <a:off x="1028701" y="-96441"/>
            <a:ext cx="11003403" cy="11079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Set Design Constraints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create_clock -name "CLK" -period $CLK_period clk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set_input_delay  [ expr $CLK_period*1 ] -clock CLK [all_inputs]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set_output_delay [ expr $CLK_period*1 ] -clock CLK [all_outputs]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set_load 0.03 [all_outputs]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Optimization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Uniquify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set_fix_multiple_port_nets -all -buffer_constants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set_fix_hold [all_clocks]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compile_ultra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7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192" name="Google Shape;192;p7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93" name="Google Shape;193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7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196" name="Google Shape;196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198" name="Google Shape;198;p7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199" name="Google Shape;199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7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02" name="Google Shape;202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 txBox="1"/>
          <p:nvPr/>
        </p:nvSpPr>
        <p:spPr>
          <a:xfrm>
            <a:off x="845697" y="-96441"/>
            <a:ext cx="11003403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Output Reports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report_timing &gt;  Report/$DESIGN\.timing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report_area &gt;  Report/$DESIGN\.area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Change Naming Rule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bus_inference_style "%s\[%d\]“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bus_naming_style "%s\[%d\]“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hdlout_internal_busses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change_names -hierarchy -rule Verilog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define_name_rules name_rule -allowed "a-z A-Z 0-9 _" -max_length 255 -type cell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define_name_rules name_rule -allowed "a-z A-Z 0-9 _[]" -max_length 255 -type net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define_name_rules name_rule -map {{"\\*cell\\*" "cell"}}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change_names -hierarchy -rules name_rule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209" name="Google Shape;209;p8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10" name="Google Shape;210;p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8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212" name="Google Shape;212;p8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13" name="Google Shape;213;p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8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215" name="Google Shape;215;p8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16" name="Google Shape;216;p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8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19" name="Google Shape;219;p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685800" y="659011"/>
            <a:ext cx="11003403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Output Results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verilogout_higher_designs_first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-format verilog -output Netlist/$DESIGN\_SYN.v –hierarchy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write_sdf -version 2.1 -context verilog -load_delay cell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Netlist/$DESIGN\_SYN.sdf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 Finish and Quit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#======================================================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check_design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9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226" name="Google Shape;226;p9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27" name="Google Shape;227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9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229" name="Google Shape;229;p9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30" name="Google Shape;230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9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232" name="Google Shape;232;p9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33" name="Google Shape;233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9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235" name="Google Shape;235;p9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36" name="Google Shape;236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37" name="Google Shape;237;p9"/>
          <p:cNvGraphicFramePr/>
          <p:nvPr/>
        </p:nvGraphicFramePr>
        <p:xfrm>
          <a:off x="685800" y="12996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{63A64E6C-2A84-488D-8709-EA9A62DC847F}</a:tableStyleId>
              </a:tblPr>
              <a:tblGrid>
                <a:gridCol w="1812200"/>
                <a:gridCol w="3172225"/>
                <a:gridCol w="2944400"/>
                <a:gridCol w="2944400"/>
              </a:tblGrid>
              <a:tr h="88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</a:rPr>
                        <a:t>Corner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3700" marB="43700" marR="87425" marL="874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/>
                        <a:t>Worst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saed90nm_max_hvt_ccs</a:t>
                      </a:r>
                      <a:endParaRPr sz="13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/>
                        <a:t>Typical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r>
                        <a:rPr lang="en-US" sz="1300" u="none" cap="none" strike="noStrike"/>
                        <a:t>aed90nm_typ_ht_hvt_ccs</a:t>
                      </a:r>
                      <a:endParaRPr sz="13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/>
                        <a:t>Best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saed90nm_min_lvt_ccs</a:t>
                      </a:r>
                      <a:endParaRPr sz="1300" u="none" cap="none" strike="noStrike"/>
                    </a:p>
                  </a:txBody>
                  <a:tcPr marT="53775" marB="53775" marR="107575" marL="107575"/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Process(nm)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TSMC 90</a:t>
                      </a:r>
                      <a:endParaRPr b="1" sz="1800" u="none" cap="none" strike="noStrike"/>
                    </a:p>
                  </a:txBody>
                  <a:tcPr marT="55850" marB="55850" marR="111700" marL="111700"/>
                </a:tc>
                <a:tc hMerge="1"/>
                <a:tc hMerge="1"/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Voltage(V)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0.7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1.20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1.32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Temperature(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°C)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125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125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-40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53775" marB="53775" marR="107575" marL="107575"/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Clk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/>
                    </a:p>
                  </a:txBody>
                  <a:tcPr marT="53775" marB="53775" marR="107575" marL="107575"/>
                </a:tc>
              </a:tr>
              <a:tr h="7972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Frequency(GHz)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0.080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0.434</a:t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0000"/>
                          </a:solidFill>
                        </a:rPr>
                        <a:t>0.478</a:t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53775" marB="53775" marR="107575" marL="107575"/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/>
                        <a:t>Area</a:t>
                      </a:r>
                      <a:endParaRPr b="1" sz="1800" u="none" cap="none" strike="noStrike"/>
                    </a:p>
                  </a:txBody>
                  <a:tcPr marT="53775" marB="53775" marR="107575" marL="10757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21178.9640</a:t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19348.1089</a:t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775" marB="53775" marR="107575" marL="107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16330.7087</a:t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775" marB="53775" marR="107575" marL="107575"/>
                </a:tc>
              </a:tr>
            </a:tbl>
          </a:graphicData>
        </a:graphic>
      </p:graphicFrame>
      <p:sp>
        <p:nvSpPr>
          <p:cNvPr id="238" name="Google Shape;238;p9"/>
          <p:cNvSpPr txBox="1"/>
          <p:nvPr/>
        </p:nvSpPr>
        <p:spPr>
          <a:xfrm>
            <a:off x="1294359" y="37545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製程比較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0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244" name="Google Shape;244;p10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45" name="Google Shape;245;p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247" name="Google Shape;247;p10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48" name="Google Shape;248;p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250" name="Google Shape;250;p10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51" name="Google Shape;251;p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0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253" name="Google Shape;253;p10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54" name="Google Shape;254;p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0"/>
          <p:cNvSpPr txBox="1"/>
          <p:nvPr/>
        </p:nvSpPr>
        <p:spPr>
          <a:xfrm>
            <a:off x="1173815" y="2300586"/>
            <a:ext cx="9844361" cy="351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使用Synopsys Design Compiler / Synthesis與Cell Library(TSMC90nm)模擬</a:t>
            </a:r>
            <a:r>
              <a:rPr b="1" i="0" lang="en-US" sz="20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實驗結果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分析三種不同製程參數(Corner)的表現如下 :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Font typeface="Microsoft JhengHei"/>
              <a:buChar char="–"/>
            </a:pPr>
            <a:r>
              <a:rPr b="1" i="0" lang="en-US" sz="18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Slow Corner : </a:t>
            </a: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為了達到較低的電壓消耗，溫度則使用較高，但整體效能較差。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Font typeface="Microsoft JhengHei"/>
              <a:buChar char="–"/>
            </a:pPr>
            <a:r>
              <a:rPr b="1" i="0" lang="en-US" sz="18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Fast Corner :</a:t>
            </a:r>
            <a:br>
              <a:rPr b="1" i="0" lang="en-US" sz="18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以高效能為目標，消耗電壓較高，使用的溫度較低，但整體效能較好。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Font typeface="Microsoft JhengHei"/>
              <a:buChar char="–"/>
            </a:pPr>
            <a:r>
              <a:rPr b="1" i="0" lang="en-US" sz="18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Typical Corner :</a:t>
            </a:r>
            <a:br>
              <a:rPr b="1" i="0" lang="en-US" sz="18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以Slow和Fast電壓消耗與效能之間取得一個適當的平衡。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477059" y="45587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製程比較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618142" y="1482779"/>
            <a:ext cx="11573858" cy="664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硬體架構實驗 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1"/>
          <p:cNvGrpSpPr/>
          <p:nvPr/>
        </p:nvGrpSpPr>
        <p:grpSpPr>
          <a:xfrm>
            <a:off x="0" y="6559059"/>
            <a:ext cx="2057403" cy="2153841"/>
            <a:chOff x="0" y="-38100"/>
            <a:chExt cx="812800" cy="850900"/>
          </a:xfrm>
        </p:grpSpPr>
        <p:sp>
          <p:nvSpPr>
            <p:cNvPr id="263" name="Google Shape;263;p1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64" name="Google Shape;264;p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1"/>
          <p:cNvGrpSpPr/>
          <p:nvPr/>
        </p:nvGrpSpPr>
        <p:grpSpPr>
          <a:xfrm>
            <a:off x="11506200" y="-96441"/>
            <a:ext cx="2057403" cy="2153841"/>
            <a:chOff x="0" y="-38100"/>
            <a:chExt cx="812800" cy="850900"/>
          </a:xfrm>
        </p:grpSpPr>
        <p:sp>
          <p:nvSpPr>
            <p:cNvPr id="266" name="Google Shape;266;p1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>
              <a:noFill/>
            </a:ln>
          </p:spPr>
        </p:sp>
        <p:sp>
          <p:nvSpPr>
            <p:cNvPr id="267" name="Google Shape;267;p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1"/>
          <p:cNvGrpSpPr/>
          <p:nvPr/>
        </p:nvGrpSpPr>
        <p:grpSpPr>
          <a:xfrm>
            <a:off x="0" y="-96441"/>
            <a:ext cx="2057403" cy="2153841"/>
            <a:chOff x="0" y="-38100"/>
            <a:chExt cx="812800" cy="850900"/>
          </a:xfrm>
        </p:grpSpPr>
        <p:sp>
          <p:nvSpPr>
            <p:cNvPr id="269" name="Google Shape;269;p1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70" name="Google Shape;270;p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1"/>
          <p:cNvGrpSpPr/>
          <p:nvPr/>
        </p:nvGrpSpPr>
        <p:grpSpPr>
          <a:xfrm>
            <a:off x="11506200" y="6559059"/>
            <a:ext cx="2057403" cy="2153841"/>
            <a:chOff x="0" y="-38100"/>
            <a:chExt cx="812800" cy="850900"/>
          </a:xfrm>
        </p:grpSpPr>
        <p:sp>
          <p:nvSpPr>
            <p:cNvPr id="272" name="Google Shape;272;p11"/>
            <p:cNvSpPr/>
            <p:nvPr/>
          </p:nvSpPr>
          <p:spPr>
            <a:xfrm>
              <a:off x="0" y="0"/>
              <a:ext cx="270933" cy="80000"/>
            </a:xfrm>
            <a:custGeom>
              <a:rect b="b" l="l" r="r" t="t"/>
              <a:pathLst>
                <a:path extrusionOk="0" h="800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>
              <a:noFill/>
            </a:ln>
          </p:spPr>
        </p:sp>
        <p:sp>
          <p:nvSpPr>
            <p:cNvPr id="273" name="Google Shape;273;p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l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11"/>
          <p:cNvSpPr txBox="1"/>
          <p:nvPr/>
        </p:nvSpPr>
        <p:spPr>
          <a:xfrm>
            <a:off x="1294362" y="2428109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228611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END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2021-12-23T02:55:14Z</dcterms:created>
  <dc:creator>魚兒</dc:creator>
</cp:coreProperties>
</file>