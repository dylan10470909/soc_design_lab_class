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4" r:id="rId3"/>
    <p:sldId id="342" r:id="rId4"/>
    <p:sldId id="334" r:id="rId5"/>
    <p:sldId id="339" r:id="rId6"/>
    <p:sldId id="335" r:id="rId7"/>
    <p:sldId id="340" r:id="rId8"/>
    <p:sldId id="338" r:id="rId9"/>
    <p:sldId id="341" r:id="rId10"/>
    <p:sldId id="343" r:id="rId11"/>
    <p:sldId id="331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FFFFF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7" autoAdjust="0"/>
    <p:restoredTop sz="71946" autoAdjust="0"/>
  </p:normalViewPr>
  <p:slideViewPr>
    <p:cSldViewPr>
      <p:cViewPr varScale="1">
        <p:scale>
          <a:sx n="80" d="100"/>
          <a:sy n="80" d="100"/>
        </p:scale>
        <p:origin x="18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74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37DB809-CE1B-466B-543F-F023A81D0A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B777C0-0E04-A54D-EA63-C763329EC0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6496D-4C86-48DD-84E7-376DBC0BA83F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5379B6-7E1C-034F-152C-6C4FF54193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C37952-6219-EFBE-AA0E-1D385A5570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109BB-27F3-4AB9-BF15-80386F7AE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6675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2C7DB-85A8-49B1-B0AE-300922E86AC1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816FC-564F-4A17-9E1E-6B203D1662B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9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B9771-156E-24C3-F3E9-631DC6C59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49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013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表示有限個</a:t>
            </a:r>
            <a:r>
              <a:rPr lang="zh-TW" alt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狀態</a:t>
            </a:r>
            <a:r>
              <a:rPr lang="zh-TW" altLang="en-US" b="0" i="0" u="non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以及在這些狀態之間的轉移和動作等行為的</a:t>
            </a:r>
            <a:r>
              <a:rPr lang="zh-TW" alt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數學計算模型</a:t>
            </a:r>
            <a:r>
              <a:rPr lang="zh-TW" altLang="en-US" b="0" i="0" u="non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。</a:t>
            </a:r>
            <a:endParaRPr kumimoji="1" lang="zh-TW" altLang="en-US" u="none" dirty="0">
              <a:solidFill>
                <a:schemeClr val="bg1"/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49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這是</a:t>
            </a:r>
            <a:r>
              <a:rPr kumimoji="1" lang="en-US" altLang="zh-TW" dirty="0"/>
              <a:t>Moore Machine</a:t>
            </a:r>
            <a:r>
              <a:rPr kumimoji="1" lang="zh-TW" altLang="en-US" dirty="0"/>
              <a:t>的</a:t>
            </a:r>
            <a:r>
              <a:rPr kumimoji="1" lang="en-US" altLang="zh-TW" dirty="0"/>
              <a:t>Block Diagram </a:t>
            </a:r>
            <a:r>
              <a:rPr kumimoji="1" lang="zh-TW" altLang="en-US" dirty="0"/>
              <a:t>主要由三個部分組成。</a:t>
            </a:r>
            <a:endParaRPr kumimoji="1" lang="en-US" altLang="zh-TW" dirty="0"/>
          </a:p>
          <a:p>
            <a:r>
              <a:rPr kumimoji="1" lang="zh-TW" altLang="en-US" dirty="0"/>
              <a:t>中間的</a:t>
            </a:r>
            <a:r>
              <a:rPr kumimoji="1" lang="en-US" altLang="zh-TW" dirty="0"/>
              <a:t>State Register </a:t>
            </a:r>
            <a:r>
              <a:rPr kumimoji="1" lang="zh-TW" altLang="en-US" dirty="0"/>
              <a:t>是</a:t>
            </a:r>
            <a:r>
              <a:rPr kumimoji="1" lang="en-US" altLang="zh-TW" dirty="0"/>
              <a:t>Sequential</a:t>
            </a:r>
            <a:r>
              <a:rPr kumimoji="1" lang="zh-TW" altLang="en-US" dirty="0"/>
              <a:t>電路，每個</a:t>
            </a:r>
            <a:r>
              <a:rPr kumimoji="1" lang="en-US" altLang="zh-TW" dirty="0"/>
              <a:t>CLk</a:t>
            </a:r>
            <a:r>
              <a:rPr kumimoji="1" lang="zh-TW" altLang="en-US" dirty="0"/>
              <a:t>儲存一次現在的狀態。</a:t>
            </a:r>
            <a:endParaRPr kumimoji="1" lang="en-US" altLang="zh-TW" dirty="0"/>
          </a:p>
          <a:p>
            <a:r>
              <a:rPr kumimoji="1" lang="zh-TW" altLang="en-US" dirty="0"/>
              <a:t>右邊的</a:t>
            </a:r>
            <a:r>
              <a:rPr kumimoji="1" lang="en-US" altLang="zh-TW" dirty="0"/>
              <a:t>Output</a:t>
            </a:r>
            <a:r>
              <a:rPr kumimoji="1" lang="zh-TW" altLang="en-US" dirty="0"/>
              <a:t>是</a:t>
            </a:r>
            <a:r>
              <a:rPr kumimoji="1" lang="en-US" altLang="zh-TW" dirty="0"/>
              <a:t>Combinational</a:t>
            </a:r>
            <a:r>
              <a:rPr kumimoji="1" lang="zh-TW" altLang="en-US" dirty="0"/>
              <a:t>電路，會根據目前的狀態產生相對應的輸出。</a:t>
            </a:r>
            <a:endParaRPr kumimoji="1" lang="en-US" altLang="zh-TW" dirty="0"/>
          </a:p>
          <a:p>
            <a:r>
              <a:rPr kumimoji="1" lang="zh-TW" altLang="en-US" dirty="0"/>
              <a:t>左邊的</a:t>
            </a:r>
            <a:r>
              <a:rPr kumimoji="1" lang="en-US" altLang="zh-TW" dirty="0"/>
              <a:t>Next State Logic</a:t>
            </a:r>
            <a:r>
              <a:rPr kumimoji="1" lang="zh-TW" altLang="en-US" dirty="0"/>
              <a:t>也是</a:t>
            </a:r>
            <a:r>
              <a:rPr kumimoji="1" lang="en-US" altLang="zh-TW" dirty="0"/>
              <a:t>Combinational</a:t>
            </a:r>
            <a:r>
              <a:rPr kumimoji="1" lang="zh-TW" altLang="en-US" dirty="0"/>
              <a:t>電路，它會根據目前的狀態和輸入，</a:t>
            </a:r>
            <a:br>
              <a:rPr kumimoji="1" lang="en-US" altLang="zh-TW" dirty="0"/>
            </a:br>
            <a:r>
              <a:rPr kumimoji="1" lang="zh-TW" altLang="en-US" dirty="0"/>
              <a:t>計算出下一個狀態應該是什麼。</a:t>
            </a:r>
            <a:endParaRPr kumimoji="1"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910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Mealy Machine</a:t>
            </a:r>
            <a:r>
              <a:rPr kumimoji="1" lang="zh-TW" altLang="en-US" dirty="0"/>
              <a:t>的</a:t>
            </a:r>
            <a:r>
              <a:rPr kumimoji="1" lang="en-US" altLang="zh-TW" dirty="0"/>
              <a:t>Block diagram</a:t>
            </a:r>
            <a:r>
              <a:rPr kumimoji="1" lang="zh-TW" altLang="en-US" dirty="0"/>
              <a:t> 基本上是跟</a:t>
            </a:r>
            <a:r>
              <a:rPr kumimoji="1" lang="en-US" altLang="zh-TW" dirty="0"/>
              <a:t>Moore</a:t>
            </a:r>
            <a:r>
              <a:rPr kumimoji="1" lang="zh-TW" altLang="en-US" dirty="0"/>
              <a:t> </a:t>
            </a:r>
            <a:r>
              <a:rPr kumimoji="1" lang="en-US" altLang="zh-TW" dirty="0"/>
              <a:t>machine</a:t>
            </a:r>
            <a:r>
              <a:rPr kumimoji="1" lang="zh-TW" altLang="en-US" dirty="0"/>
              <a:t>大同小異。</a:t>
            </a:r>
            <a:endParaRPr kumimoji="1" lang="en-US" altLang="zh-TW" dirty="0"/>
          </a:p>
          <a:p>
            <a:r>
              <a:rPr kumimoji="1" lang="zh-TW" altLang="en-US" dirty="0"/>
              <a:t>唯一不同的地方在於</a:t>
            </a:r>
            <a:r>
              <a:rPr kumimoji="1" lang="en-US" altLang="zh-TW" dirty="0"/>
              <a:t>Mealy Machine</a:t>
            </a:r>
            <a:r>
              <a:rPr kumimoji="1" lang="zh-TW" altLang="en-US" dirty="0"/>
              <a:t> 的</a:t>
            </a:r>
            <a:r>
              <a:rPr kumimoji="1" lang="en-US" altLang="zh-TW" dirty="0"/>
              <a:t>input </a:t>
            </a:r>
            <a:r>
              <a:rPr kumimoji="1" lang="zh-TW" altLang="en-US" dirty="0"/>
              <a:t>會直接影響到輸出，</a:t>
            </a:r>
            <a:endParaRPr kumimoji="1" lang="en-US" altLang="zh-TW" dirty="0"/>
          </a:p>
          <a:p>
            <a:r>
              <a:rPr kumimoji="1" lang="zh-TW" altLang="en-US" dirty="0"/>
              <a:t>因此產生的</a:t>
            </a:r>
            <a:r>
              <a:rPr kumimoji="1" lang="en-US" altLang="zh-TW" dirty="0"/>
              <a:t>Output</a:t>
            </a:r>
            <a:r>
              <a:rPr kumimoji="1" lang="zh-TW" altLang="en-US" dirty="0"/>
              <a:t>會比</a:t>
            </a:r>
            <a:r>
              <a:rPr kumimoji="1" lang="en-US" altLang="zh-TW" dirty="0"/>
              <a:t>Moore Machine</a:t>
            </a:r>
            <a:r>
              <a:rPr kumimoji="1" lang="zh-TW" altLang="en-US" dirty="0"/>
              <a:t>快一個</a:t>
            </a:r>
            <a:r>
              <a:rPr kumimoji="1" lang="en-US" altLang="zh-TW" dirty="0"/>
              <a:t>Clock</a:t>
            </a:r>
            <a:r>
              <a:rPr kumimoji="1" lang="zh-TW" altLang="en-US" dirty="0"/>
              <a:t>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50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Mealy Machine 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只使用輸入動作的</a:t>
            </a:r>
            <a:r>
              <a:rPr lang="en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FSM</a:t>
            </a:r>
            <a:r>
              <a:rPr lang="zh-TW" alt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也就是說輸出依賴於輸入及狀態。</a:t>
            </a:r>
            <a:endParaRPr lang="en-US" altLang="zh-TW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箭頭代表我們的轉移關係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斜線左邊為我們的輸入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右邊為我們的輸出</a:t>
            </a:r>
            <a:endParaRPr lang="en-US" altLang="zh-TW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以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S2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為例 如果我們輸入是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那輸出也會是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假設我們目前狀態為 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S0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，當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X=0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的時候下一個狀態會是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S1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狀態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當我們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X=1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則會是</a:t>
            </a:r>
            <a:r>
              <a:rPr kumimoji="1"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S0</a:t>
            </a:r>
            <a:r>
              <a:rPr kumimoji="1"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狀態。</a:t>
            </a:r>
            <a:endParaRPr kumimoji="1" lang="en-US" altLang="zh-TW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kumimoji="1" lang="zh-TW" altLang="en-US" dirty="0"/>
              <a:t>反而是在</a:t>
            </a:r>
            <a:r>
              <a:rPr kumimoji="1" lang="en-US" altLang="zh-TW" dirty="0"/>
              <a:t>S3</a:t>
            </a:r>
            <a:r>
              <a:rPr kumimoji="1" lang="zh-TW" altLang="en-US" dirty="0"/>
              <a:t>狀態時，當我們Ｘ</a:t>
            </a:r>
            <a:r>
              <a:rPr kumimoji="1" lang="en-US" altLang="zh-TW" dirty="0"/>
              <a:t>=0</a:t>
            </a:r>
            <a:r>
              <a:rPr kumimoji="1" lang="zh-TW" altLang="en-US" dirty="0"/>
              <a:t>的時候並且會輸出</a:t>
            </a:r>
            <a:r>
              <a:rPr kumimoji="1" lang="en-US" altLang="zh-TW" dirty="0"/>
              <a:t>1</a:t>
            </a:r>
            <a:r>
              <a:rPr kumimoji="1" lang="zh-TW" altLang="en-US" dirty="0"/>
              <a:t>並且轉變下個</a:t>
            </a:r>
            <a:r>
              <a:rPr kumimoji="1" lang="en-US" altLang="zh-TW" dirty="0"/>
              <a:t>S1</a:t>
            </a:r>
            <a:r>
              <a:rPr kumimoji="1" lang="zh-TW" altLang="en-US" dirty="0"/>
              <a:t>狀態。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505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561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Total Area / NAND</a:t>
            </a:r>
            <a:r>
              <a:rPr kumimoji="1" lang="zh-TW" altLang="en-US" dirty="0"/>
              <a:t>閘</a:t>
            </a:r>
            <a:r>
              <a:rPr kumimoji="1" lang="en-US" altLang="zh-TW" dirty="0"/>
              <a:t> 2x1= Gate Count</a:t>
            </a:r>
            <a:r>
              <a:rPr kumimoji="1" lang="zh-TW" altLang="en-US" dirty="0"/>
              <a:t>（邏輯閘數）</a:t>
            </a:r>
            <a:endParaRPr kumimoji="1" lang="en-US" altLang="zh-TW" dirty="0"/>
          </a:p>
          <a:p>
            <a:r>
              <a:rPr kumimoji="1" lang="en-US" altLang="zh-TW" dirty="0"/>
              <a:t>1/Clk-Slack = </a:t>
            </a:r>
            <a:r>
              <a:rPr kumimoji="1" lang="zh-TW" altLang="en-US" dirty="0"/>
              <a:t>頻率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578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343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92286-2170-FCD4-093D-60401D7E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7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210795-B744-1388-249A-354AB0838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16FC-564F-4A17-9E1E-6B203D1662BB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00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71656-2536-479B-8B78-8A1AEBBF54A5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4E81D-88A6-48F0-B7BC-CFCD7D86A78D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018E5-D481-4725-9FD4-3A54D197402D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E885-3421-45A8-9681-8DEAA206014F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6B80-1AF4-43B3-A52B-F874C8616DAE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913D-47B9-4010-96BE-C1875C0E51E8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5472-75F9-407D-9009-923171A5E69C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EE9D-CE17-4A16-9EF6-F4F8AF194D99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2F48-2481-4629-B86E-95BA64440B25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810-4C3C-4E15-BCB0-F0F54F679254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3624-4C17-4D62-9271-56540DE43580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1E196-2425-4BE8-9824-749E24939E0B}" type="datetime1">
              <a:rPr lang="zh-TW" altLang="en-US" smtClean="0"/>
              <a:t>2023/6/1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82DCF-141E-4F65-824B-49E9BFF1CF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es.tsri.org.tw/trs/onlineapply/initWsvPage.a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ynopsys.com/zh-tw/taiwan/blog/what-is-low-power-design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27347" y="2053979"/>
            <a:ext cx="11737304" cy="1591045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+mn-lt"/>
                <a:cs typeface="Arial" panose="020B0604020202020204" pitchFamily="34" charset="0"/>
              </a:rPr>
              <a:t>SoC Lab Final Project</a:t>
            </a:r>
            <a:br>
              <a:rPr lang="en-US" altLang="zh-TW" sz="4200" b="1" dirty="0">
                <a:latin typeface="+mn-lt"/>
                <a:cs typeface="Arial" panose="020B0604020202020204" pitchFamily="34" charset="0"/>
              </a:rPr>
            </a:br>
            <a:r>
              <a:rPr lang="en-US" altLang="zh-TW" sz="4200" b="1" dirty="0">
                <a:latin typeface="+mn-lt"/>
                <a:cs typeface="Arial" panose="020B0604020202020204" pitchFamily="34" charset="0"/>
              </a:rPr>
              <a:t>Finite-State Machine</a:t>
            </a:r>
            <a:r>
              <a:rPr lang="zh-TW" altLang="en-US" sz="4200" b="1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TW" sz="4200" b="1" dirty="0">
                <a:latin typeface="+mn-lt"/>
                <a:cs typeface="Arial" panose="020B0604020202020204" pitchFamily="34" charset="0"/>
              </a:rPr>
              <a:t>(FSM)</a:t>
            </a:r>
            <a:endParaRPr lang="zh-TW" altLang="en-US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7183A0-719E-B8CF-3EAF-83A91ACEDFDD}"/>
              </a:ext>
            </a:extLst>
          </p:cNvPr>
          <p:cNvSpPr txBox="1"/>
          <p:nvPr/>
        </p:nvSpPr>
        <p:spPr>
          <a:xfrm>
            <a:off x="3503712" y="4248900"/>
            <a:ext cx="4817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報告人 </a:t>
            </a:r>
            <a:r>
              <a:rPr kumimoji="1" lang="en-US" altLang="zh-TW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: </a:t>
            </a:r>
            <a:r>
              <a:rPr kumimoji="1" lang="zh-TW" altLang="en-US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劉泰鄅</a:t>
            </a:r>
            <a:endParaRPr kumimoji="1" lang="en-US" altLang="zh-TW" sz="2000" dirty="0">
              <a:latin typeface="+mj-lt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kumimoji="1" lang="zh-TW" altLang="en-US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學號 </a:t>
            </a:r>
            <a:r>
              <a:rPr kumimoji="1" lang="en-US" altLang="zh-TW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: F111110117</a:t>
            </a:r>
          </a:p>
          <a:p>
            <a:pPr algn="ctr"/>
            <a:r>
              <a:rPr kumimoji="1" lang="zh-TW" altLang="en-US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授課老師</a:t>
            </a:r>
            <a:r>
              <a:rPr kumimoji="1" lang="en-US" altLang="zh-TW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: </a:t>
            </a:r>
            <a:r>
              <a:rPr kumimoji="1" lang="zh-TW" altLang="en-US" sz="2000" dirty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rPr>
              <a:t>謝瑞鴻 教授</a:t>
            </a:r>
            <a:endParaRPr kumimoji="1" lang="en-US" altLang="zh-TW" sz="2000" dirty="0">
              <a:latin typeface="+mj-lt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158B7575-4582-6F47-87AC-DCD898DCE045}"/>
              </a:ext>
            </a:extLst>
          </p:cNvPr>
          <p:cNvCxnSpPr/>
          <p:nvPr/>
        </p:nvCxnSpPr>
        <p:spPr>
          <a:xfrm>
            <a:off x="1847528" y="3645024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FC5CB0-1701-89E7-BA72-773D25BE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zh-TW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Outline</a:t>
            </a:r>
            <a:endParaRPr kumimoji="1" lang="zh-TW" altLang="en-US" sz="3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AEE30B-08C1-643E-E1A4-6CD17D409455}"/>
              </a:ext>
            </a:extLst>
          </p:cNvPr>
          <p:cNvSpPr txBox="1"/>
          <p:nvPr/>
        </p:nvSpPr>
        <p:spPr>
          <a:xfrm>
            <a:off x="609600" y="1556792"/>
            <a:ext cx="10526960" cy="3244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介紹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架構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比較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結論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參考文獻</a:t>
            </a:r>
          </a:p>
        </p:txBody>
      </p:sp>
    </p:spTree>
    <p:extLst>
      <p:ext uri="{BB962C8B-B14F-4D97-AF65-F5344CB8AC3E}">
        <p14:creationId xmlns:p14="http://schemas.microsoft.com/office/powerpoint/2010/main" val="126583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609600" y="1772816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655318" y="1466852"/>
            <a:ext cx="11573858" cy="1636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什麼是</a:t>
            </a:r>
            <a:r>
              <a:rPr lang="en-US" altLang="zh-TW" sz="2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Finite-State Machine ?</a:t>
            </a: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有限狀態機在數位系統或軟體工程中的一種包含有限個</a:t>
            </a:r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的計算模型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常見的模型類型有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Moore Machine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Mealy Machine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endParaRPr lang="en-US" altLang="zh-TW" sz="2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矩形: 圓角 9">
            <a:extLst>
              <a:ext uri="{FF2B5EF4-FFF2-40B4-BE49-F238E27FC236}">
                <a16:creationId xmlns:a16="http://schemas.microsoft.com/office/drawing/2014/main" id="{EC5610E7-63C0-F887-ECD9-BAA3C030391D}"/>
              </a:ext>
            </a:extLst>
          </p:cNvPr>
          <p:cNvSpPr/>
          <p:nvPr/>
        </p:nvSpPr>
        <p:spPr>
          <a:xfrm flipH="1">
            <a:off x="608315" y="3409033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1AF91B2-0189-4FA8-7314-2538DD964304}"/>
              </a:ext>
            </a:extLst>
          </p:cNvPr>
          <p:cNvSpPr txBox="1"/>
          <p:nvPr/>
        </p:nvSpPr>
        <p:spPr>
          <a:xfrm>
            <a:off x="659692" y="3103069"/>
            <a:ext cx="11118665" cy="2559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哪些應用會使用</a:t>
            </a:r>
            <a:r>
              <a:rPr lang="en-US" altLang="zh-TW" sz="2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Finite-State Machine ?</a:t>
            </a: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電動門控制器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紅綠燈號誌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辨識器系統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自動販賣機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395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982333" y="2057472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1029151" y="1700808"/>
            <a:ext cx="11573858" cy="1276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Block diagram of </a:t>
            </a:r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Moore</a:t>
            </a:r>
            <a:r>
              <a:rPr lang="en-US" altLang="zh-TW" sz="2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Machine :</a:t>
            </a:r>
          </a:p>
          <a:p>
            <a:pPr lvl="1">
              <a:lnSpc>
                <a:spcPct val="150000"/>
              </a:lnSpc>
            </a:pP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01E646CE-EAC7-21A3-7E09-1AA046256448}"/>
              </a:ext>
            </a:extLst>
          </p:cNvPr>
          <p:cNvGrpSpPr/>
          <p:nvPr/>
        </p:nvGrpSpPr>
        <p:grpSpPr>
          <a:xfrm>
            <a:off x="1165328" y="3356992"/>
            <a:ext cx="9861343" cy="1800200"/>
            <a:chOff x="555141" y="3284984"/>
            <a:chExt cx="9861343" cy="18002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C663EB1-78CB-2B17-8204-6DFFC2F0AEFC}"/>
                </a:ext>
              </a:extLst>
            </p:cNvPr>
            <p:cNvSpPr/>
            <p:nvPr/>
          </p:nvSpPr>
          <p:spPr>
            <a:xfrm>
              <a:off x="1451482" y="3284984"/>
              <a:ext cx="208823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7536C01-3DE8-ED91-915E-21CA4B3856B4}"/>
                </a:ext>
              </a:extLst>
            </p:cNvPr>
            <p:cNvSpPr/>
            <p:nvPr/>
          </p:nvSpPr>
          <p:spPr>
            <a:xfrm>
              <a:off x="4439816" y="3284984"/>
              <a:ext cx="136815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D22A664-4E94-119D-939C-AF76A2521389}"/>
                </a:ext>
              </a:extLst>
            </p:cNvPr>
            <p:cNvSpPr/>
            <p:nvPr/>
          </p:nvSpPr>
          <p:spPr>
            <a:xfrm>
              <a:off x="7428150" y="3284984"/>
              <a:ext cx="208823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ADEA1CE-2D3E-608A-5244-18129E05BB3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5807968" y="3753036"/>
              <a:ext cx="16201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D2AB476F-AA3A-D7B3-CE45-D8A3E29D7687}"/>
                </a:ext>
              </a:extLst>
            </p:cNvPr>
            <p:cNvCxnSpPr/>
            <p:nvPr/>
          </p:nvCxnSpPr>
          <p:spPr>
            <a:xfrm>
              <a:off x="3539714" y="3753036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5379E7A9-D646-47D8-645B-021CB39229CE}"/>
                </a:ext>
              </a:extLst>
            </p:cNvPr>
            <p:cNvCxnSpPr/>
            <p:nvPr/>
          </p:nvCxnSpPr>
          <p:spPr>
            <a:xfrm>
              <a:off x="555141" y="3573016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7E9A2CC1-2155-0A57-48D1-A847A65B1F22}"/>
                </a:ext>
              </a:extLst>
            </p:cNvPr>
            <p:cNvCxnSpPr/>
            <p:nvPr/>
          </p:nvCxnSpPr>
          <p:spPr>
            <a:xfrm>
              <a:off x="9516382" y="3756428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89C6C350-68D9-09FA-8636-E3DF6DA829CB}"/>
                </a:ext>
              </a:extLst>
            </p:cNvPr>
            <p:cNvCxnSpPr/>
            <p:nvPr/>
          </p:nvCxnSpPr>
          <p:spPr>
            <a:xfrm>
              <a:off x="6978099" y="3753036"/>
              <a:ext cx="0" cy="13321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DE124ADC-AC10-BAE2-A6F8-29E9AEEC6FA1}"/>
                </a:ext>
              </a:extLst>
            </p:cNvPr>
            <p:cNvCxnSpPr/>
            <p:nvPr/>
          </p:nvCxnSpPr>
          <p:spPr>
            <a:xfrm flipH="1">
              <a:off x="767408" y="5085184"/>
              <a:ext cx="62106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CBF37CB2-E8C4-B028-B1A9-A1184C37322B}"/>
                </a:ext>
              </a:extLst>
            </p:cNvPr>
            <p:cNvCxnSpPr/>
            <p:nvPr/>
          </p:nvCxnSpPr>
          <p:spPr>
            <a:xfrm flipV="1">
              <a:off x="767408" y="4005064"/>
              <a:ext cx="0" cy="10801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119A9DAC-1BA2-6A94-72BF-2136341B3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08" y="4001632"/>
              <a:ext cx="672093" cy="34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97B2B1D-F529-574D-3D29-78C0C02F7B59}"/>
                </a:ext>
              </a:extLst>
            </p:cNvPr>
            <p:cNvCxnSpPr/>
            <p:nvPr/>
          </p:nvCxnSpPr>
          <p:spPr>
            <a:xfrm>
              <a:off x="4511824" y="4581128"/>
              <a:ext cx="6120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90515289-50BA-FAA9-1C20-3FAA68840BBD}"/>
                </a:ext>
              </a:extLst>
            </p:cNvPr>
            <p:cNvCxnSpPr>
              <a:stCxn id="5" idx="2"/>
            </p:cNvCxnSpPr>
            <p:nvPr/>
          </p:nvCxnSpPr>
          <p:spPr>
            <a:xfrm>
              <a:off x="5123892" y="4221088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7878A87A-685E-9A33-7CA5-281C2EAA0847}"/>
                </a:ext>
              </a:extLst>
            </p:cNvPr>
            <p:cNvSpPr/>
            <p:nvPr/>
          </p:nvSpPr>
          <p:spPr>
            <a:xfrm>
              <a:off x="5072275" y="4154005"/>
              <a:ext cx="103233" cy="65544"/>
            </a:xfrm>
            <a:prstGeom prst="triangl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A4954C-92EB-4280-B040-207F3DFB0B2C}"/>
              </a:ext>
            </a:extLst>
          </p:cNvPr>
          <p:cNvSpPr txBox="1"/>
          <p:nvPr/>
        </p:nvSpPr>
        <p:spPr>
          <a:xfrm>
            <a:off x="2207568" y="3426037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Next State Combinational Logic</a:t>
            </a:r>
            <a:endParaRPr lang="zh-TW" altLang="en-US" sz="16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8582808-7C27-2F25-980B-E3E523FACC69}"/>
              </a:ext>
            </a:extLst>
          </p:cNvPr>
          <p:cNvSpPr txBox="1"/>
          <p:nvPr/>
        </p:nvSpPr>
        <p:spPr>
          <a:xfrm>
            <a:off x="8205938" y="3426036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Output Combinational Logic</a:t>
            </a:r>
            <a:endParaRPr lang="zh-TW" altLang="en-US" sz="16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60D8EB3-FE5A-124B-767C-F2F3CE031268}"/>
              </a:ext>
            </a:extLst>
          </p:cNvPr>
          <p:cNvSpPr txBox="1"/>
          <p:nvPr/>
        </p:nvSpPr>
        <p:spPr>
          <a:xfrm>
            <a:off x="5269190" y="3528301"/>
            <a:ext cx="988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State Register</a:t>
            </a:r>
            <a:endParaRPr lang="zh-TW" altLang="en-US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5709084-41B3-177D-F78E-1593A850055E}"/>
              </a:ext>
            </a:extLst>
          </p:cNvPr>
          <p:cNvSpPr txBox="1"/>
          <p:nvPr/>
        </p:nvSpPr>
        <p:spPr>
          <a:xfrm>
            <a:off x="479376" y="3426036"/>
            <a:ext cx="70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2C723A5-4DFA-A16B-284C-34262238417B}"/>
              </a:ext>
            </a:extLst>
          </p:cNvPr>
          <p:cNvSpPr txBox="1"/>
          <p:nvPr/>
        </p:nvSpPr>
        <p:spPr>
          <a:xfrm>
            <a:off x="4669881" y="4489607"/>
            <a:ext cx="592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Clk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1E03DDC-B721-B166-A88E-FFC58F6D88D2}"/>
              </a:ext>
            </a:extLst>
          </p:cNvPr>
          <p:cNvSpPr txBox="1"/>
          <p:nvPr/>
        </p:nvSpPr>
        <p:spPr>
          <a:xfrm>
            <a:off x="11040244" y="3643770"/>
            <a:ext cx="90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955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982333" y="2057472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1029151" y="1700808"/>
            <a:ext cx="11573858" cy="1276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Block diagram of </a:t>
            </a:r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Mealy</a:t>
            </a:r>
            <a:r>
              <a:rPr lang="en-US" altLang="zh-TW" sz="2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Machine :</a:t>
            </a:r>
          </a:p>
          <a:p>
            <a:pPr lvl="1">
              <a:lnSpc>
                <a:spcPct val="150000"/>
              </a:lnSpc>
            </a:pP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01E646CE-EAC7-21A3-7E09-1AA046256448}"/>
              </a:ext>
            </a:extLst>
          </p:cNvPr>
          <p:cNvGrpSpPr/>
          <p:nvPr/>
        </p:nvGrpSpPr>
        <p:grpSpPr>
          <a:xfrm>
            <a:off x="1165328" y="3356992"/>
            <a:ext cx="9861343" cy="1800200"/>
            <a:chOff x="555141" y="3284984"/>
            <a:chExt cx="9861343" cy="18002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C663EB1-78CB-2B17-8204-6DFFC2F0AEFC}"/>
                </a:ext>
              </a:extLst>
            </p:cNvPr>
            <p:cNvSpPr/>
            <p:nvPr/>
          </p:nvSpPr>
          <p:spPr>
            <a:xfrm>
              <a:off x="1451482" y="3284984"/>
              <a:ext cx="208823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7536C01-3DE8-ED91-915E-21CA4B3856B4}"/>
                </a:ext>
              </a:extLst>
            </p:cNvPr>
            <p:cNvSpPr/>
            <p:nvPr/>
          </p:nvSpPr>
          <p:spPr>
            <a:xfrm>
              <a:off x="4439816" y="3284984"/>
              <a:ext cx="136815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D22A664-4E94-119D-939C-AF76A2521389}"/>
                </a:ext>
              </a:extLst>
            </p:cNvPr>
            <p:cNvSpPr/>
            <p:nvPr/>
          </p:nvSpPr>
          <p:spPr>
            <a:xfrm>
              <a:off x="7428150" y="3284984"/>
              <a:ext cx="208823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ADEA1CE-2D3E-608A-5244-18129E05BB3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5807968" y="3753036"/>
              <a:ext cx="16201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D2AB476F-AA3A-D7B3-CE45-D8A3E29D7687}"/>
                </a:ext>
              </a:extLst>
            </p:cNvPr>
            <p:cNvCxnSpPr/>
            <p:nvPr/>
          </p:nvCxnSpPr>
          <p:spPr>
            <a:xfrm>
              <a:off x="3539714" y="3753036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5379E7A9-D646-47D8-645B-021CB39229CE}"/>
                </a:ext>
              </a:extLst>
            </p:cNvPr>
            <p:cNvCxnSpPr/>
            <p:nvPr/>
          </p:nvCxnSpPr>
          <p:spPr>
            <a:xfrm>
              <a:off x="555141" y="3573016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7E9A2CC1-2155-0A57-48D1-A847A65B1F22}"/>
                </a:ext>
              </a:extLst>
            </p:cNvPr>
            <p:cNvCxnSpPr/>
            <p:nvPr/>
          </p:nvCxnSpPr>
          <p:spPr>
            <a:xfrm>
              <a:off x="9516382" y="3756428"/>
              <a:ext cx="9001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89C6C350-68D9-09FA-8636-E3DF6DA829CB}"/>
                </a:ext>
              </a:extLst>
            </p:cNvPr>
            <p:cNvCxnSpPr/>
            <p:nvPr/>
          </p:nvCxnSpPr>
          <p:spPr>
            <a:xfrm>
              <a:off x="6978099" y="3753036"/>
              <a:ext cx="0" cy="13321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DE124ADC-AC10-BAE2-A6F8-29E9AEEC6FA1}"/>
                </a:ext>
              </a:extLst>
            </p:cNvPr>
            <p:cNvCxnSpPr/>
            <p:nvPr/>
          </p:nvCxnSpPr>
          <p:spPr>
            <a:xfrm flipH="1">
              <a:off x="767408" y="5085184"/>
              <a:ext cx="62106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CBF37CB2-E8C4-B028-B1A9-A1184C37322B}"/>
                </a:ext>
              </a:extLst>
            </p:cNvPr>
            <p:cNvCxnSpPr/>
            <p:nvPr/>
          </p:nvCxnSpPr>
          <p:spPr>
            <a:xfrm flipV="1">
              <a:off x="767408" y="4005064"/>
              <a:ext cx="0" cy="10801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119A9DAC-1BA2-6A94-72BF-2136341B34E9}"/>
                </a:ext>
              </a:extLst>
            </p:cNvPr>
            <p:cNvCxnSpPr>
              <a:cxnSpLocks/>
            </p:cNvCxnSpPr>
            <p:nvPr/>
          </p:nvCxnSpPr>
          <p:spPr>
            <a:xfrm>
              <a:off x="767408" y="4005064"/>
              <a:ext cx="6840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97B2B1D-F529-574D-3D29-78C0C02F7B59}"/>
                </a:ext>
              </a:extLst>
            </p:cNvPr>
            <p:cNvCxnSpPr/>
            <p:nvPr/>
          </p:nvCxnSpPr>
          <p:spPr>
            <a:xfrm>
              <a:off x="4511824" y="4581128"/>
              <a:ext cx="6120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90515289-50BA-FAA9-1C20-3FAA68840BBD}"/>
                </a:ext>
              </a:extLst>
            </p:cNvPr>
            <p:cNvCxnSpPr>
              <a:stCxn id="5" idx="2"/>
            </p:cNvCxnSpPr>
            <p:nvPr/>
          </p:nvCxnSpPr>
          <p:spPr>
            <a:xfrm>
              <a:off x="5123892" y="4221088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7878A87A-685E-9A33-7CA5-281C2EAA0847}"/>
                </a:ext>
              </a:extLst>
            </p:cNvPr>
            <p:cNvSpPr/>
            <p:nvPr/>
          </p:nvSpPr>
          <p:spPr>
            <a:xfrm>
              <a:off x="5072275" y="4154005"/>
              <a:ext cx="103233" cy="65544"/>
            </a:xfrm>
            <a:prstGeom prst="triangl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A4954C-92EB-4280-B040-207F3DFB0B2C}"/>
              </a:ext>
            </a:extLst>
          </p:cNvPr>
          <p:cNvSpPr txBox="1"/>
          <p:nvPr/>
        </p:nvSpPr>
        <p:spPr>
          <a:xfrm>
            <a:off x="2207568" y="3426037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Next State Combinational Logic</a:t>
            </a:r>
            <a:endParaRPr lang="zh-TW" altLang="en-US" sz="16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8582808-7C27-2F25-980B-E3E523FACC69}"/>
              </a:ext>
            </a:extLst>
          </p:cNvPr>
          <p:cNvSpPr txBox="1"/>
          <p:nvPr/>
        </p:nvSpPr>
        <p:spPr>
          <a:xfrm>
            <a:off x="8205938" y="3426036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Output Combinational Logic</a:t>
            </a:r>
            <a:endParaRPr lang="zh-TW" altLang="en-US" sz="16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60D8EB3-FE5A-124B-767C-F2F3CE031268}"/>
              </a:ext>
            </a:extLst>
          </p:cNvPr>
          <p:cNvSpPr txBox="1"/>
          <p:nvPr/>
        </p:nvSpPr>
        <p:spPr>
          <a:xfrm>
            <a:off x="5269190" y="3528301"/>
            <a:ext cx="988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State Register</a:t>
            </a:r>
            <a:endParaRPr lang="zh-TW" altLang="en-US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5709084-41B3-177D-F78E-1593A850055E}"/>
              </a:ext>
            </a:extLst>
          </p:cNvPr>
          <p:cNvSpPr txBox="1"/>
          <p:nvPr/>
        </p:nvSpPr>
        <p:spPr>
          <a:xfrm>
            <a:off x="479376" y="3426036"/>
            <a:ext cx="70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2C723A5-4DFA-A16B-284C-34262238417B}"/>
              </a:ext>
            </a:extLst>
          </p:cNvPr>
          <p:cNvSpPr txBox="1"/>
          <p:nvPr/>
        </p:nvSpPr>
        <p:spPr>
          <a:xfrm>
            <a:off x="4669881" y="4489607"/>
            <a:ext cx="592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Clk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1E03DDC-B721-B166-A88E-FFC58F6D88D2}"/>
              </a:ext>
            </a:extLst>
          </p:cNvPr>
          <p:cNvSpPr txBox="1"/>
          <p:nvPr/>
        </p:nvSpPr>
        <p:spPr>
          <a:xfrm>
            <a:off x="11040244" y="3643770"/>
            <a:ext cx="90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4337599-E204-DADC-7821-88FE4C8ED330}"/>
              </a:ext>
            </a:extLst>
          </p:cNvPr>
          <p:cNvSpPr/>
          <p:nvPr/>
        </p:nvSpPr>
        <p:spPr>
          <a:xfrm>
            <a:off x="7565426" y="380218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8C8BB78-F65C-CEC4-37EE-4CEAFE378F11}"/>
              </a:ext>
            </a:extLst>
          </p:cNvPr>
          <p:cNvSpPr/>
          <p:nvPr/>
        </p:nvSpPr>
        <p:spPr>
          <a:xfrm>
            <a:off x="1544990" y="361070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AE37DAE-636C-AB3D-50CF-EE03BF1A85DB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567849" y="3058363"/>
            <a:ext cx="1" cy="5523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EBF605BB-8B0C-90EE-BF72-ED935B1609C6}"/>
              </a:ext>
            </a:extLst>
          </p:cNvPr>
          <p:cNvCxnSpPr>
            <a:cxnSpLocks/>
          </p:cNvCxnSpPr>
          <p:nvPr/>
        </p:nvCxnSpPr>
        <p:spPr>
          <a:xfrm>
            <a:off x="1567849" y="3058363"/>
            <a:ext cx="60204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63D57CCC-F6B2-6A9A-60DF-F4225EBB5309}"/>
              </a:ext>
            </a:extLst>
          </p:cNvPr>
          <p:cNvCxnSpPr>
            <a:cxnSpLocks/>
          </p:cNvCxnSpPr>
          <p:nvPr/>
        </p:nvCxnSpPr>
        <p:spPr>
          <a:xfrm>
            <a:off x="7588285" y="3058363"/>
            <a:ext cx="0" cy="40199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ECEE9A0-2B89-6901-6EA8-35DCE8835585}"/>
              </a:ext>
            </a:extLst>
          </p:cNvPr>
          <p:cNvCxnSpPr/>
          <p:nvPr/>
        </p:nvCxnSpPr>
        <p:spPr>
          <a:xfrm>
            <a:off x="7588285" y="3460359"/>
            <a:ext cx="45005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44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CC3A0766-A4F9-D851-482D-44C48EB47CCD}"/>
              </a:ext>
            </a:extLst>
          </p:cNvPr>
          <p:cNvSpPr/>
          <p:nvPr/>
        </p:nvSpPr>
        <p:spPr>
          <a:xfrm>
            <a:off x="5614354" y="2725438"/>
            <a:ext cx="5841766" cy="2236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609600" y="1482299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638861" y="1179432"/>
            <a:ext cx="11573858" cy="66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以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Mealy Machine 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狀態圖為例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C7FCB0E0-0358-0A84-229F-0E31CFB8A2AE}"/>
              </a:ext>
            </a:extLst>
          </p:cNvPr>
          <p:cNvSpPr txBox="1"/>
          <p:nvPr/>
        </p:nvSpPr>
        <p:spPr>
          <a:xfrm>
            <a:off x="2736252" y="6222148"/>
            <a:ext cx="905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0/0</a:t>
            </a:r>
            <a:endParaRPr kumimoji="1"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C10AB2A9-94FA-1BD3-6DA0-D10FF40D90EA}"/>
              </a:ext>
            </a:extLst>
          </p:cNvPr>
          <p:cNvGrpSpPr/>
          <p:nvPr/>
        </p:nvGrpSpPr>
        <p:grpSpPr>
          <a:xfrm>
            <a:off x="1172823" y="2126018"/>
            <a:ext cx="3660031" cy="4091661"/>
            <a:chOff x="1199456" y="2182327"/>
            <a:chExt cx="3660031" cy="4091661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A92704C7-E91D-01E2-E132-0F113B5294DA}"/>
                </a:ext>
              </a:extLst>
            </p:cNvPr>
            <p:cNvSpPr txBox="1"/>
            <p:nvPr/>
          </p:nvSpPr>
          <p:spPr>
            <a:xfrm>
              <a:off x="3854966" y="3084428"/>
              <a:ext cx="100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0/0</a:t>
              </a:r>
              <a:endParaRPr kumimoji="1" lang="zh-TW" altLang="en-US" dirty="0"/>
            </a:p>
          </p:txBody>
        </p:sp>
        <p:grpSp>
          <p:nvGrpSpPr>
            <p:cNvPr id="92" name="群組 91">
              <a:extLst>
                <a:ext uri="{FF2B5EF4-FFF2-40B4-BE49-F238E27FC236}">
                  <a16:creationId xmlns:a16="http://schemas.microsoft.com/office/drawing/2014/main" id="{3AF8B94B-BE74-B858-FC45-50ECAA3CE333}"/>
                </a:ext>
              </a:extLst>
            </p:cNvPr>
            <p:cNvGrpSpPr/>
            <p:nvPr/>
          </p:nvGrpSpPr>
          <p:grpSpPr>
            <a:xfrm>
              <a:off x="1199456" y="2182327"/>
              <a:ext cx="3528392" cy="4091661"/>
              <a:chOff x="1199456" y="2182327"/>
              <a:chExt cx="3528392" cy="4091661"/>
            </a:xfrm>
          </p:grpSpPr>
          <p:sp>
            <p:nvSpPr>
              <p:cNvPr id="3" name="橢圓 2">
                <a:extLst>
                  <a:ext uri="{FF2B5EF4-FFF2-40B4-BE49-F238E27FC236}">
                    <a16:creationId xmlns:a16="http://schemas.microsoft.com/office/drawing/2014/main" id="{1056674A-8034-CFA4-9619-27657247FCF2}"/>
                  </a:ext>
                </a:extLst>
              </p:cNvPr>
              <p:cNvSpPr/>
              <p:nvPr/>
            </p:nvSpPr>
            <p:spPr>
              <a:xfrm>
                <a:off x="2466945" y="2597704"/>
                <a:ext cx="936104" cy="88463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E84326E3-D719-0953-F8CB-B5B33F307E55}"/>
                  </a:ext>
                </a:extLst>
              </p:cNvPr>
              <p:cNvSpPr/>
              <p:nvPr/>
            </p:nvSpPr>
            <p:spPr>
              <a:xfrm>
                <a:off x="2461495" y="4890807"/>
                <a:ext cx="936104" cy="88463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E5E86007-0389-BBC2-D5BE-B6A1447CA4C2}"/>
                  </a:ext>
                </a:extLst>
              </p:cNvPr>
              <p:cNvSpPr/>
              <p:nvPr/>
            </p:nvSpPr>
            <p:spPr>
              <a:xfrm>
                <a:off x="3791744" y="3695384"/>
                <a:ext cx="936104" cy="88463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31C14048-38AA-FB78-C987-03DF950AB39A}"/>
                  </a:ext>
                </a:extLst>
              </p:cNvPr>
              <p:cNvSpPr/>
              <p:nvPr/>
            </p:nvSpPr>
            <p:spPr>
              <a:xfrm>
                <a:off x="1199456" y="3695384"/>
                <a:ext cx="936104" cy="88463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2" name="直線箭頭接點 11">
                <a:extLst>
                  <a:ext uri="{FF2B5EF4-FFF2-40B4-BE49-F238E27FC236}">
                    <a16:creationId xmlns:a16="http://schemas.microsoft.com/office/drawing/2014/main" id="{F399CE54-08A9-291D-851F-79304EE24AB8}"/>
                  </a:ext>
                </a:extLst>
              </p:cNvPr>
              <p:cNvCxnSpPr/>
              <p:nvPr/>
            </p:nvCxnSpPr>
            <p:spPr>
              <a:xfrm>
                <a:off x="3397599" y="3162615"/>
                <a:ext cx="754185" cy="53276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箭頭接點 18">
                <a:extLst>
                  <a:ext uri="{FF2B5EF4-FFF2-40B4-BE49-F238E27FC236}">
                    <a16:creationId xmlns:a16="http://schemas.microsoft.com/office/drawing/2014/main" id="{756ECC75-2768-53B3-71F0-AF01B8A9FB1C}"/>
                  </a:ext>
                </a:extLst>
              </p:cNvPr>
              <p:cNvCxnSpPr>
                <a:stCxn id="7" idx="4"/>
                <a:endCxn id="5" idx="6"/>
              </p:cNvCxnSpPr>
              <p:nvPr/>
            </p:nvCxnSpPr>
            <p:spPr>
              <a:xfrm flipH="1">
                <a:off x="3397599" y="4580017"/>
                <a:ext cx="862197" cy="753107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箭頭接點 38">
                <a:extLst>
                  <a:ext uri="{FF2B5EF4-FFF2-40B4-BE49-F238E27FC236}">
                    <a16:creationId xmlns:a16="http://schemas.microsoft.com/office/drawing/2014/main" id="{23427207-385E-074F-2E1C-5E32AA0DAA27}"/>
                  </a:ext>
                </a:extLst>
              </p:cNvPr>
              <p:cNvCxnSpPr>
                <a:cxnSpLocks/>
                <a:stCxn id="8" idx="0"/>
                <a:endCxn id="3" idx="2"/>
              </p:cNvCxnSpPr>
              <p:nvPr/>
            </p:nvCxnSpPr>
            <p:spPr>
              <a:xfrm flipV="1">
                <a:off x="1667508" y="3040021"/>
                <a:ext cx="799437" cy="655363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線箭頭接點 44">
                <a:extLst>
                  <a:ext uri="{FF2B5EF4-FFF2-40B4-BE49-F238E27FC236}">
                    <a16:creationId xmlns:a16="http://schemas.microsoft.com/office/drawing/2014/main" id="{1A018389-7F63-AAC0-7480-8DFEA9EA4B5B}"/>
                  </a:ext>
                </a:extLst>
              </p:cNvPr>
              <p:cNvCxnSpPr>
                <a:stCxn id="8" idx="6"/>
                <a:endCxn id="7" idx="2"/>
              </p:cNvCxnSpPr>
              <p:nvPr/>
            </p:nvCxnSpPr>
            <p:spPr>
              <a:xfrm>
                <a:off x="2135560" y="4137701"/>
                <a:ext cx="1656184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線箭頭接點 47">
                <a:extLst>
                  <a:ext uri="{FF2B5EF4-FFF2-40B4-BE49-F238E27FC236}">
                    <a16:creationId xmlns:a16="http://schemas.microsoft.com/office/drawing/2014/main" id="{AFD8FC26-291B-83F6-6726-8A426A3F4CA9}"/>
                  </a:ext>
                </a:extLst>
              </p:cNvPr>
              <p:cNvCxnSpPr>
                <a:stCxn id="5" idx="2"/>
                <a:endCxn id="8" idx="4"/>
              </p:cNvCxnSpPr>
              <p:nvPr/>
            </p:nvCxnSpPr>
            <p:spPr>
              <a:xfrm flipH="1" flipV="1">
                <a:off x="1667508" y="4580017"/>
                <a:ext cx="793987" cy="7531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弧形向上箭號 52">
                <a:extLst>
                  <a:ext uri="{FF2B5EF4-FFF2-40B4-BE49-F238E27FC236}">
                    <a16:creationId xmlns:a16="http://schemas.microsoft.com/office/drawing/2014/main" id="{A3456A7F-D7BD-95C5-05AC-AC54F99C589A}"/>
                  </a:ext>
                </a:extLst>
              </p:cNvPr>
              <p:cNvSpPr/>
              <p:nvPr/>
            </p:nvSpPr>
            <p:spPr>
              <a:xfrm rot="11100426">
                <a:off x="2735093" y="2182412"/>
                <a:ext cx="685975" cy="548204"/>
              </a:xfrm>
              <a:prstGeom prst="curvedUpArrow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弧形向上箭號 54">
                <a:extLst>
                  <a:ext uri="{FF2B5EF4-FFF2-40B4-BE49-F238E27FC236}">
                    <a16:creationId xmlns:a16="http://schemas.microsoft.com/office/drawing/2014/main" id="{14D8EC16-5EB5-5916-C0AA-1C840530BF57}"/>
                  </a:ext>
                </a:extLst>
              </p:cNvPr>
              <p:cNvSpPr/>
              <p:nvPr/>
            </p:nvSpPr>
            <p:spPr>
              <a:xfrm rot="618926">
                <a:off x="2586560" y="5725784"/>
                <a:ext cx="685975" cy="548204"/>
              </a:xfrm>
              <a:prstGeom prst="curvedUpArrow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349EF0AF-C599-31AF-3C4F-C17881680D1A}"/>
                  </a:ext>
                </a:extLst>
              </p:cNvPr>
              <p:cNvSpPr txBox="1"/>
              <p:nvPr/>
            </p:nvSpPr>
            <p:spPr>
              <a:xfrm>
                <a:off x="2748947" y="2853445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S0</a:t>
                </a:r>
                <a:endParaRPr kumimoji="1" lang="zh-TW" altLang="en-US" dirty="0"/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CCE5F061-0BE6-F7B1-00E5-4E9687064F65}"/>
                  </a:ext>
                </a:extLst>
              </p:cNvPr>
              <p:cNvSpPr txBox="1"/>
              <p:nvPr/>
            </p:nvSpPr>
            <p:spPr>
              <a:xfrm>
                <a:off x="4056054" y="3953033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S1</a:t>
                </a:r>
                <a:endParaRPr kumimoji="1" lang="zh-TW" altLang="en-US" dirty="0"/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F1A1319-2823-5546-E1FD-267D31E3709B}"/>
                  </a:ext>
                </a:extLst>
              </p:cNvPr>
              <p:cNvSpPr txBox="1"/>
              <p:nvPr/>
            </p:nvSpPr>
            <p:spPr>
              <a:xfrm>
                <a:off x="2748947" y="5150627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S2</a:t>
                </a:r>
                <a:endParaRPr kumimoji="1" lang="zh-TW" altLang="en-US" dirty="0"/>
              </a:p>
            </p:txBody>
          </p: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72DBCA4E-694E-A415-872E-0FBC98B60F0B}"/>
                  </a:ext>
                </a:extLst>
              </p:cNvPr>
              <p:cNvSpPr txBox="1"/>
              <p:nvPr/>
            </p:nvSpPr>
            <p:spPr>
              <a:xfrm>
                <a:off x="1450798" y="3953033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S3</a:t>
                </a:r>
                <a:endParaRPr kumimoji="1" lang="zh-TW" altLang="en-US" dirty="0"/>
              </a:p>
            </p:txBody>
          </p:sp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DC3F876E-1097-177A-43F8-930AE998270F}"/>
                  </a:ext>
                </a:extLst>
              </p:cNvPr>
              <p:cNvSpPr txBox="1"/>
              <p:nvPr/>
            </p:nvSpPr>
            <p:spPr>
              <a:xfrm>
                <a:off x="3427677" y="2182327"/>
                <a:ext cx="943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1/0</a:t>
                </a:r>
                <a:endParaRPr kumimoji="1" lang="zh-TW" altLang="en-US" dirty="0"/>
              </a:p>
            </p:txBody>
          </p:sp>
          <p:cxnSp>
            <p:nvCxnSpPr>
              <p:cNvPr id="65" name="直線箭頭接點 64">
                <a:extLst>
                  <a:ext uri="{FF2B5EF4-FFF2-40B4-BE49-F238E27FC236}">
                    <a16:creationId xmlns:a16="http://schemas.microsoft.com/office/drawing/2014/main" id="{D39FB0BC-1E57-4992-8ADE-40D7EF25B38D}"/>
                  </a:ext>
                </a:extLst>
              </p:cNvPr>
              <p:cNvCxnSpPr>
                <a:stCxn id="7" idx="1"/>
                <a:endCxn id="3" idx="5"/>
              </p:cNvCxnSpPr>
              <p:nvPr/>
            </p:nvCxnSpPr>
            <p:spPr>
              <a:xfrm flipH="1" flipV="1">
                <a:off x="3265960" y="3352785"/>
                <a:ext cx="662873" cy="472151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D92CE9A-F279-916D-543A-D2D6610EE9F2}"/>
                  </a:ext>
                </a:extLst>
              </p:cNvPr>
              <p:cNvSpPr txBox="1"/>
              <p:nvPr/>
            </p:nvSpPr>
            <p:spPr>
              <a:xfrm>
                <a:off x="2712478" y="4137699"/>
                <a:ext cx="7312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0/1</a:t>
                </a:r>
                <a:endParaRPr kumimoji="1" lang="zh-TW" altLang="en-US" dirty="0"/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A63D4921-84AD-09F0-655B-3F0F1107A8FB}"/>
                  </a:ext>
                </a:extLst>
              </p:cNvPr>
              <p:cNvSpPr txBox="1"/>
              <p:nvPr/>
            </p:nvSpPr>
            <p:spPr>
              <a:xfrm>
                <a:off x="3061837" y="3564039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1/0</a:t>
                </a:r>
                <a:endParaRPr kumimoji="1" lang="zh-TW" altLang="en-US" dirty="0"/>
              </a:p>
            </p:txBody>
          </p:sp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9515D9E1-438E-16F5-77C9-EED381184BEC}"/>
                  </a:ext>
                </a:extLst>
              </p:cNvPr>
              <p:cNvSpPr txBox="1"/>
              <p:nvPr/>
            </p:nvSpPr>
            <p:spPr>
              <a:xfrm>
                <a:off x="3847547" y="4900104"/>
                <a:ext cx="704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dirty="0"/>
                  <a:t>0/0</a:t>
                </a:r>
                <a:endParaRPr kumimoji="1" lang="zh-TW" altLang="en-US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09D8AC8B-8B91-600F-E7B5-3766DD591CD1}"/>
                  </a:ext>
                </a:extLst>
              </p:cNvPr>
              <p:cNvSpPr txBox="1"/>
              <p:nvPr/>
            </p:nvSpPr>
            <p:spPr>
              <a:xfrm>
                <a:off x="1560470" y="4866048"/>
                <a:ext cx="6598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dirty="0"/>
                  <a:t>1/0</a:t>
                </a:r>
                <a:endParaRPr kumimoji="1" lang="zh-TW" altLang="en-US" dirty="0"/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639119C-2784-E2D4-8F26-57337D2D1C04}"/>
                  </a:ext>
                </a:extLst>
              </p:cNvPr>
              <p:cNvSpPr txBox="1"/>
              <p:nvPr/>
            </p:nvSpPr>
            <p:spPr>
              <a:xfrm>
                <a:off x="1615309" y="2977949"/>
                <a:ext cx="7994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dirty="0"/>
                  <a:t>1/0</a:t>
                </a:r>
                <a:endParaRPr kumimoji="1" lang="zh-TW" altLang="en-US" dirty="0"/>
              </a:p>
            </p:txBody>
          </p:sp>
        </p:grpSp>
      </p:grp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128BB442-7D4C-9E66-5693-A4BC566187D0}"/>
              </a:ext>
            </a:extLst>
          </p:cNvPr>
          <p:cNvSpPr txBox="1"/>
          <p:nvPr/>
        </p:nvSpPr>
        <p:spPr>
          <a:xfrm>
            <a:off x="5807968" y="2900320"/>
            <a:ext cx="56168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TW" sz="2000" dirty="0"/>
          </a:p>
          <a:p>
            <a:r>
              <a:rPr kumimoji="1" lang="en-US" altLang="zh-TW" sz="2000" dirty="0"/>
              <a:t>   State             X=0        X=1                   X=0         X=1</a:t>
            </a:r>
          </a:p>
          <a:p>
            <a:r>
              <a:rPr kumimoji="1" lang="en-US" altLang="zh-TW" sz="2000" dirty="0"/>
              <a:t>     S0                 S1           S0                       0             0</a:t>
            </a:r>
            <a:br>
              <a:rPr kumimoji="1" lang="en-US" altLang="zh-TW" sz="2000" dirty="0"/>
            </a:br>
            <a:r>
              <a:rPr kumimoji="1" lang="en-US" altLang="zh-TW" sz="2000" dirty="0"/>
              <a:t>     S1                 S2           S0                       0             0</a:t>
            </a:r>
          </a:p>
          <a:p>
            <a:r>
              <a:rPr kumimoji="1" lang="en-US" altLang="zh-TW" sz="2000" dirty="0"/>
              <a:t>     S2                 S2           S3                       0             0 </a:t>
            </a:r>
          </a:p>
          <a:p>
            <a:r>
              <a:rPr kumimoji="1" lang="en-US" altLang="zh-TW" sz="2000" dirty="0"/>
              <a:t>     S3                 S1           S0                       1             0</a:t>
            </a:r>
          </a:p>
        </p:txBody>
      </p: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284F5D40-00A4-7B37-903B-5FA2219A6A41}"/>
              </a:ext>
            </a:extLst>
          </p:cNvPr>
          <p:cNvCxnSpPr>
            <a:cxnSpLocks/>
          </p:cNvCxnSpPr>
          <p:nvPr/>
        </p:nvCxnSpPr>
        <p:spPr>
          <a:xfrm>
            <a:off x="9120336" y="2725437"/>
            <a:ext cx="0" cy="2236269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AF41070E-7216-2538-222D-0D326A8EFF92}"/>
              </a:ext>
            </a:extLst>
          </p:cNvPr>
          <p:cNvCxnSpPr>
            <a:cxnSpLocks/>
          </p:cNvCxnSpPr>
          <p:nvPr/>
        </p:nvCxnSpPr>
        <p:spPr>
          <a:xfrm>
            <a:off x="5614354" y="3166468"/>
            <a:ext cx="5831900" cy="19149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259F38D1-9F04-80A4-16F5-CBF23BD9AF8D}"/>
              </a:ext>
            </a:extLst>
          </p:cNvPr>
          <p:cNvSpPr txBox="1"/>
          <p:nvPr/>
        </p:nvSpPr>
        <p:spPr>
          <a:xfrm>
            <a:off x="5860972" y="2779697"/>
            <a:ext cx="617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b="1" dirty="0"/>
              <a:t>Present </a:t>
            </a:r>
            <a:r>
              <a:rPr kumimoji="1" lang="en-US" altLang="zh-TW" sz="1800" dirty="0"/>
              <a:t>              </a:t>
            </a:r>
            <a:r>
              <a:rPr kumimoji="1" lang="en-US" altLang="zh-TW" sz="1800" b="1" dirty="0"/>
              <a:t>Next State</a:t>
            </a:r>
            <a:r>
              <a:rPr kumimoji="1" lang="en-US" altLang="zh-TW" sz="1800" dirty="0"/>
              <a:t>                       </a:t>
            </a:r>
            <a:r>
              <a:rPr kumimoji="1" lang="en-US" altLang="zh-TW" sz="1800" b="1" dirty="0"/>
              <a:t>Present output</a:t>
            </a:r>
          </a:p>
          <a:p>
            <a:r>
              <a:rPr kumimoji="1" lang="en-US" altLang="zh-TW" sz="1800" dirty="0"/>
              <a:t>                    </a:t>
            </a:r>
            <a:endParaRPr kumimoji="1"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10007B41-5BA1-C97C-E2CB-FA3BD51A0258}"/>
              </a:ext>
            </a:extLst>
          </p:cNvPr>
          <p:cNvSpPr txBox="1"/>
          <p:nvPr/>
        </p:nvSpPr>
        <p:spPr>
          <a:xfrm>
            <a:off x="5495795" y="2302101"/>
            <a:ext cx="1838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State Table</a:t>
            </a:r>
            <a:endParaRPr kumimoji="1" lang="zh-TW" altLang="en-US" sz="2000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E5647D0-5AE6-19BD-8851-D7B13B6FA374}"/>
              </a:ext>
            </a:extLst>
          </p:cNvPr>
          <p:cNvCxnSpPr>
            <a:cxnSpLocks/>
          </p:cNvCxnSpPr>
          <p:nvPr/>
        </p:nvCxnSpPr>
        <p:spPr>
          <a:xfrm>
            <a:off x="6960096" y="2725437"/>
            <a:ext cx="0" cy="2213043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1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b="1" smtClean="0"/>
              <a:pPr/>
              <a:t>7</a:t>
            </a:fld>
            <a:endParaRPr lang="zh-TW" altLang="en-US" b="1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601683" y="1777497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633784" y="1464671"/>
            <a:ext cx="11573858" cy="66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硬體架構實驗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8B59686-AB93-BB93-7217-53241FD9B39F}"/>
              </a:ext>
            </a:extLst>
          </p:cNvPr>
          <p:cNvSpPr txBox="1"/>
          <p:nvPr/>
        </p:nvSpPr>
        <p:spPr>
          <a:xfrm>
            <a:off x="263352" y="2184611"/>
            <a:ext cx="11809312" cy="330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Synopsys Design Compiler / Synthesis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與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Cell Library(TSMC90nm)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模擬</a:t>
            </a:r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實驗結果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分析三種不同製程參數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(Corner)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的表現如下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Slow Corner</a:t>
            </a:r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b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為了達到較低的電壓消耗，溫度則使用較高，但整體效能較差</a:t>
            </a:r>
            <a:r>
              <a:rPr lang="zh-TW" altLang="en-US" sz="1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Fast Corner :</a:t>
            </a:r>
            <a:b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</a:t>
            </a: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以高效能為目標，消耗電壓較高，使用的溫度較低，但整體效能較好。 </a:t>
            </a:r>
            <a:endParaRPr lang="en-US" altLang="zh-TW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Typical Corner :</a:t>
            </a:r>
            <a:br>
              <a:rPr lang="en-US" altLang="zh-TW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以</a:t>
            </a:r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Slow</a:t>
            </a: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和</a:t>
            </a:r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Fast</a:t>
            </a: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電壓消耗與效能之間取得一個適當的平衡</a:t>
            </a:r>
            <a:r>
              <a:rPr lang="zh-TW" altLang="en-US" sz="1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18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2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10403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479376" y="1124744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6AFC148-529E-E1F0-A092-68FD3103B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83669"/>
              </p:ext>
            </p:extLst>
          </p:nvPr>
        </p:nvGraphicFramePr>
        <p:xfrm>
          <a:off x="609600" y="1569092"/>
          <a:ext cx="10873208" cy="4969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201">
                  <a:extLst>
                    <a:ext uri="{9D8B030D-6E8A-4147-A177-3AD203B41FA5}">
                      <a16:colId xmlns:a16="http://schemas.microsoft.com/office/drawing/2014/main" val="3709138450"/>
                    </a:ext>
                  </a:extLst>
                </a:gridCol>
                <a:gridCol w="3172229">
                  <a:extLst>
                    <a:ext uri="{9D8B030D-6E8A-4147-A177-3AD203B41FA5}">
                      <a16:colId xmlns:a16="http://schemas.microsoft.com/office/drawing/2014/main" val="2264814111"/>
                    </a:ext>
                  </a:extLst>
                </a:gridCol>
                <a:gridCol w="2944389">
                  <a:extLst>
                    <a:ext uri="{9D8B030D-6E8A-4147-A177-3AD203B41FA5}">
                      <a16:colId xmlns:a16="http://schemas.microsoft.com/office/drawing/2014/main" val="3160937608"/>
                    </a:ext>
                  </a:extLst>
                </a:gridCol>
                <a:gridCol w="2944389">
                  <a:extLst>
                    <a:ext uri="{9D8B030D-6E8A-4147-A177-3AD203B41FA5}">
                      <a16:colId xmlns:a16="http://schemas.microsoft.com/office/drawing/2014/main" val="2888716210"/>
                    </a:ext>
                  </a:extLst>
                </a:gridCol>
              </a:tblGrid>
              <a:tr h="65973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600" dirty="0">
                          <a:solidFill>
                            <a:schemeClr val="tx1"/>
                          </a:solidFill>
                        </a:rPr>
                        <a:t>Corner</a:t>
                      </a:r>
                      <a:endParaRPr lang="zh-TW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marL="87416" marR="87416" marT="43708" marB="43708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Slow</a:t>
                      </a:r>
                    </a:p>
                    <a:p>
                      <a:pPr algn="ctr"/>
                      <a:r>
                        <a:rPr lang="en-US" altLang="zh-TW" sz="1300" dirty="0"/>
                        <a:t>Saed90nm_min_htm_ccs (Best)</a:t>
                      </a:r>
                      <a:endParaRPr lang="zh-TW" altLang="en-US" sz="1300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Typical</a:t>
                      </a:r>
                    </a:p>
                    <a:p>
                      <a:pPr algn="ctr"/>
                      <a:r>
                        <a:rPr lang="en-US" altLang="zh-TW" sz="1300" dirty="0"/>
                        <a:t>Saed90nm_min_nt_ccs (Best)</a:t>
                      </a:r>
                      <a:endParaRPr lang="zh-TW" altLang="en-US" sz="1300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dirty="0"/>
                        <a:t>Fast</a:t>
                      </a:r>
                    </a:p>
                    <a:p>
                      <a:pPr algn="ctr"/>
                      <a:r>
                        <a:rPr lang="en-US" altLang="zh-TW" sz="1300" dirty="0"/>
                        <a:t>Saed90nm_min_hvt_ccs (Best)</a:t>
                      </a:r>
                      <a:endParaRPr lang="zh-TW" altLang="en-US" sz="1300" dirty="0"/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3188808662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Process(nm)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b="1" dirty="0"/>
                        <a:t>TSMC 90</a:t>
                      </a:r>
                      <a:endParaRPr lang="zh-TW" altLang="en-US" sz="1800" b="1" dirty="0"/>
                    </a:p>
                  </a:txBody>
                  <a:tcPr marL="111711" marR="111711" marT="55855" marB="5585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extLst>
                  <a:ext uri="{0D108BD9-81ED-4DB2-BD59-A6C34878D82A}">
                    <a16:rowId xmlns:a16="http://schemas.microsoft.com/office/drawing/2014/main" val="2719096929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Voltage(V)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0.85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1.32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1.32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1237410257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Temperature(</a:t>
                      </a:r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°C)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125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25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-40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1714873570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Clk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2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2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2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4260171236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Frequency(GHz)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1.03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2.04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2.17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2272291017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Area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110.231035</a:t>
                      </a:r>
                      <a:endParaRPr lang="zh-TW" altLang="en-US" sz="1600" b="1" dirty="0"/>
                    </a:p>
                  </a:txBody>
                  <a:tcPr marL="111711" marR="111711" marT="55855" marB="55855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300" dirty="0"/>
                    </a:p>
                  </a:txBody>
                  <a:tcPr marL="115410" marR="115410" marT="57705" marB="57705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300" dirty="0"/>
                    </a:p>
                  </a:txBody>
                  <a:tcPr marL="115410" marR="115410" marT="57705" marB="57705"/>
                </a:tc>
                <a:extLst>
                  <a:ext uri="{0D108BD9-81ED-4DB2-BD59-A6C34878D82A}">
                    <a16:rowId xmlns:a16="http://schemas.microsoft.com/office/drawing/2014/main" val="2775662871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NAND 2x1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2.822400</a:t>
                      </a:r>
                      <a:endParaRPr lang="zh-TW" altLang="en-US" sz="1600" b="1" dirty="0"/>
                    </a:p>
                  </a:txBody>
                  <a:tcPr marL="111711" marR="111711" marT="55855" marB="5585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extLst>
                  <a:ext uri="{0D108BD9-81ED-4DB2-BD59-A6C34878D82A}">
                    <a16:rowId xmlns:a16="http://schemas.microsoft.com/office/drawing/2014/main" val="4171888652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Gate Count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39.0557805</a:t>
                      </a:r>
                      <a:endParaRPr lang="zh-TW" altLang="en-US" sz="1600" b="1" dirty="0"/>
                    </a:p>
                  </a:txBody>
                  <a:tcPr marL="111711" marR="111711" marT="55855" marB="5585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tc hMerge="1">
                  <a:txBody>
                    <a:bodyPr/>
                    <a:lstStyle/>
                    <a:p>
                      <a:endParaRPr lang="zh-TW" altLang="en-US" sz="2300" dirty="0"/>
                    </a:p>
                  </a:txBody>
                  <a:tcPr marL="115410" marR="115410" marT="57705" marB="57705"/>
                </a:tc>
                <a:extLst>
                  <a:ext uri="{0D108BD9-81ED-4DB2-BD59-A6C34878D82A}">
                    <a16:rowId xmlns:a16="http://schemas.microsoft.com/office/drawing/2014/main" val="3263895282"/>
                  </a:ext>
                </a:extLst>
              </a:tr>
              <a:tr h="478899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800" b="1" dirty="0"/>
                        <a:t>Power(</a:t>
                      </a:r>
                      <a:r>
                        <a:rPr lang="el-GR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-US" altLang="zh-TW" sz="1800" b="1" dirty="0"/>
                        <a:t>)</a:t>
                      </a:r>
                      <a:endParaRPr lang="zh-TW" altLang="en-US" sz="1800" b="1" dirty="0"/>
                    </a:p>
                  </a:txBody>
                  <a:tcPr marL="107574" marR="107574" marT="53787" marB="53787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/>
                        <a:t>12.7939</a:t>
                      </a:r>
                      <a:endParaRPr lang="zh-TW" altLang="en-US" sz="1600" b="1" dirty="0"/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41.5116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07574" marR="107574" marT="53787" marB="537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34.5870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107574" marR="107574" marT="53787" marB="53787"/>
                </a:tc>
                <a:extLst>
                  <a:ext uri="{0D108BD9-81ED-4DB2-BD59-A6C34878D82A}">
                    <a16:rowId xmlns:a16="http://schemas.microsoft.com/office/drawing/2014/main" val="3342578792"/>
                  </a:ext>
                </a:extLst>
              </a:tr>
            </a:tbl>
          </a:graphicData>
        </a:graphic>
      </p:graphicFrame>
      <p:sp>
        <p:nvSpPr>
          <p:cNvPr id="3" name="矩形: 圓角 2">
            <a:extLst>
              <a:ext uri="{FF2B5EF4-FFF2-40B4-BE49-F238E27FC236}">
                <a16:creationId xmlns:a16="http://schemas.microsoft.com/office/drawing/2014/main" id="{507D004D-1E55-3DCE-A669-99CF3C1180E1}"/>
              </a:ext>
            </a:extLst>
          </p:cNvPr>
          <p:cNvSpPr/>
          <p:nvPr/>
        </p:nvSpPr>
        <p:spPr>
          <a:xfrm flipH="1">
            <a:off x="669962" y="1199306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A823216-5087-F42F-D806-16C88DC4FBFA}"/>
              </a:ext>
            </a:extLst>
          </p:cNvPr>
          <p:cNvSpPr txBox="1"/>
          <p:nvPr/>
        </p:nvSpPr>
        <p:spPr>
          <a:xfrm>
            <a:off x="707085" y="1140379"/>
            <a:ext cx="7685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效能表現參考表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191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9B0864-0EAA-8C23-D62F-81F610366500}"/>
              </a:ext>
            </a:extLst>
          </p:cNvPr>
          <p:cNvSpPr/>
          <p:nvPr/>
        </p:nvSpPr>
        <p:spPr>
          <a:xfrm flipH="1">
            <a:off x="634348" y="1845816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102C94-E2B1-6654-B6C1-3AE6FBF8CB99}"/>
              </a:ext>
            </a:extLst>
          </p:cNvPr>
          <p:cNvSpPr txBox="1"/>
          <p:nvPr/>
        </p:nvSpPr>
        <p:spPr>
          <a:xfrm>
            <a:off x="661254" y="1531566"/>
            <a:ext cx="11573858" cy="66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整體數據性能評比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8B59686-AB93-BB93-7217-53241FD9B39F}"/>
              </a:ext>
            </a:extLst>
          </p:cNvPr>
          <p:cNvSpPr txBox="1"/>
          <p:nvPr/>
        </p:nvSpPr>
        <p:spPr>
          <a:xfrm>
            <a:off x="263352" y="2234227"/>
            <a:ext cx="11665296" cy="12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微軟正黑體" panose="020B0604030504040204" pitchFamily="34" charset="-120"/>
              <a:buChar char="–"/>
            </a:pP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Slow Corner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合成出來的結果，可以從參考表中發現頻率達到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1.03GHz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，功率消耗為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12.7939</a:t>
            </a:r>
            <a:r>
              <a:rPr lang="el-GR" altLang="zh-TW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zh-TW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zh-TW" altLang="en-US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Typical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Corner 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以及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Fast Corner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之間的比較，在功率消耗的部分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Fast Corner</a:t>
            </a:r>
            <a:b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卻只消耗了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34.5870</a:t>
            </a:r>
            <a:r>
              <a:rPr lang="el-GR" altLang="zh-TW" sz="2000" b="1" i="0" kern="120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zh-TW" sz="2000" b="1" i="0" kern="120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zh-TW" altLang="en-US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比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Typical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Corner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(41.5116</a:t>
            </a:r>
            <a:r>
              <a:rPr lang="el-GR" altLang="zh-TW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μ</a:t>
            </a:r>
            <a:r>
              <a:rPr lang="en-US" altLang="zh-TW" sz="2000" b="1" i="0" kern="1200" dirty="0">
                <a:solidFill>
                  <a:schemeClr val="dk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還來得</a:t>
            </a:r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節省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157D58-7E74-0CEC-FAE9-3BCAF3B76A74}"/>
              </a:ext>
            </a:extLst>
          </p:cNvPr>
          <p:cNvSpPr/>
          <p:nvPr/>
        </p:nvSpPr>
        <p:spPr>
          <a:xfrm flipH="1">
            <a:off x="638394" y="4122119"/>
            <a:ext cx="45719" cy="26194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1155B6-326B-973C-9984-9354F5FE8C34}"/>
              </a:ext>
            </a:extLst>
          </p:cNvPr>
          <p:cNvSpPr txBox="1"/>
          <p:nvPr/>
        </p:nvSpPr>
        <p:spPr>
          <a:xfrm>
            <a:off x="671065" y="4037647"/>
            <a:ext cx="25465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延伸應用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F372637-9D18-576B-835B-1A1E57D1CA67}"/>
              </a:ext>
            </a:extLst>
          </p:cNvPr>
          <p:cNvSpPr txBox="1"/>
          <p:nvPr/>
        </p:nvSpPr>
        <p:spPr>
          <a:xfrm>
            <a:off x="712734" y="4480446"/>
            <a:ext cx="1028240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合成電路分析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Power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以及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Frequency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可利用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Synopsys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Primetime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EDA</a:t>
            </a: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軟體進行測試。</a:t>
            </a:r>
            <a:endParaRPr lang="en-US" altLang="zh-TW" sz="2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257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4592D-E042-FE2B-86EC-887D4989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參考文獻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A9F1D5-F928-469C-0488-E17E94BF4D62}"/>
              </a:ext>
            </a:extLst>
          </p:cNvPr>
          <p:cNvCxnSpPr/>
          <p:nvPr/>
        </p:nvCxnSpPr>
        <p:spPr>
          <a:xfrm>
            <a:off x="609600" y="1268760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CF820-FA76-0E02-45C4-7E4B518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b="1" smtClean="0"/>
              <a:pPr/>
              <a:t>10</a:t>
            </a:fld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F372637-9D18-576B-835B-1A1E57D1CA67}"/>
              </a:ext>
            </a:extLst>
          </p:cNvPr>
          <p:cNvSpPr txBox="1"/>
          <p:nvPr/>
        </p:nvSpPr>
        <p:spPr>
          <a:xfrm>
            <a:off x="609600" y="1623319"/>
            <a:ext cx="10282407" cy="2626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zh-TW" altLang="en-US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國家實驗研究院台灣半導體研究中心晶片設計課程</a:t>
            </a:r>
            <a:r>
              <a:rPr lang="en-US" altLang="zh-TW" sz="2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Verilog</a:t>
            </a:r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(112C102-C/D)</a:t>
            </a:r>
            <a:b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3"/>
              </a:rPr>
              <a:t>https://fes.tsri.org.tw/trs/onlineapply/initWsvPage.action</a:t>
            </a:r>
            <a:endParaRPr lang="en-US" altLang="zh-TW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r>
              <a:rPr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Synopsys AI</a:t>
            </a: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需要全新的低功耗設計方法</a:t>
            </a:r>
            <a:b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4"/>
              </a:rPr>
              <a:t>https://www.synopsys.com/zh-tw/taiwan/blog/what-is-low-power-design.html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微軟正黑體" panose="020B0604030504040204" pitchFamily="34" charset="-120"/>
              <a:buChar char="–"/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108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CD586E-8864-113D-4FC2-30669468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2DCF-141E-4F65-824B-49E9BFF1CF0C}" type="slidenum">
              <a:rPr lang="zh-TW" altLang="en-US" smtClean="0"/>
              <a:pPr/>
              <a:t>11</a:t>
            </a:fld>
            <a:endParaRPr lang="zh-TW" altLang="en-US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5BF144D-1BDC-C403-C43D-5A9B1F5B4D65}"/>
              </a:ext>
            </a:extLst>
          </p:cNvPr>
          <p:cNvCxnSpPr/>
          <p:nvPr/>
        </p:nvCxnSpPr>
        <p:spPr>
          <a:xfrm>
            <a:off x="1919536" y="3717032"/>
            <a:ext cx="8809463" cy="0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DD3359-E3F9-ED59-D0A3-D37C4D34E10B}"/>
              </a:ext>
            </a:extLst>
          </p:cNvPr>
          <p:cNvSpPr txBox="1"/>
          <p:nvPr/>
        </p:nvSpPr>
        <p:spPr>
          <a:xfrm>
            <a:off x="3048000" y="275624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報告結束</a:t>
            </a:r>
            <a:r>
              <a:rPr lang="en-US" altLang="zh-TW" sz="4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4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156405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54339</TotalTime>
  <Words>836</Words>
  <Application>Microsoft Macintosh PowerPoint</Application>
  <PresentationFormat>寬螢幕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Office 佈景主題</vt:lpstr>
      <vt:lpstr>SoC Lab Final Project Finite-State Machine (FSM)</vt:lpstr>
      <vt:lpstr>Outline</vt:lpstr>
      <vt:lpstr>介紹</vt:lpstr>
      <vt:lpstr>介紹</vt:lpstr>
      <vt:lpstr>介紹</vt:lpstr>
      <vt:lpstr>架構</vt:lpstr>
      <vt:lpstr>架構</vt:lpstr>
      <vt:lpstr>比較</vt:lpstr>
      <vt:lpstr>結論</vt:lpstr>
      <vt:lpstr>參考文獻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quality in multiple HEVC encoding-decoding cycles</dc:title>
  <dc:creator>NING</dc:creator>
  <cp:lastModifiedBy>劉泰鄅</cp:lastModifiedBy>
  <cp:revision>189</cp:revision>
  <dcterms:created xsi:type="dcterms:W3CDTF">2017-03-06T17:26:26Z</dcterms:created>
  <dcterms:modified xsi:type="dcterms:W3CDTF">2023-06-02T01:16:46Z</dcterms:modified>
</cp:coreProperties>
</file>